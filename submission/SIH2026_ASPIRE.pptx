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8B3D"/>
    <a:srgbClr val="F2B684"/>
    <a:srgbClr val="F8E8AA"/>
    <a:srgbClr val="DC5CAB"/>
    <a:srgbClr val="234D7D"/>
    <a:srgbClr val="1D78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645" autoAdjust="0"/>
  </p:normalViewPr>
  <p:slideViewPr>
    <p:cSldViewPr snapToGrid="0" snapToObjects="1">
      <p:cViewPr varScale="1">
        <p:scale>
          <a:sx n="70" d="100"/>
          <a:sy n="70" d="100"/>
        </p:scale>
        <p:origin x="113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8arjav.jain@gmail.com" userId="2182d22d357d8f45" providerId="LiveId" clId="{862F8D8A-A2A2-410C-8BEF-038D305339AB}"/>
    <pc:docChg chg="undo custSel modSld">
      <pc:chgData name="g8arjav.jain@gmail.com" userId="2182d22d357d8f45" providerId="LiveId" clId="{862F8D8A-A2A2-410C-8BEF-038D305339AB}" dt="2026-09-10T06:03:02.754" v="72" actId="478"/>
      <pc:docMkLst>
        <pc:docMk/>
      </pc:docMkLst>
      <pc:sldChg chg="addSp delSp modSp mod">
        <pc:chgData name="g8arjav.jain@gmail.com" userId="2182d22d357d8f45" providerId="LiveId" clId="{862F8D8A-A2A2-410C-8BEF-038D305339AB}" dt="2026-09-10T06:03:02.754" v="72" actId="478"/>
        <pc:sldMkLst>
          <pc:docMk/>
          <pc:sldMk cId="0" sldId="258"/>
        </pc:sldMkLst>
        <pc:picChg chg="add del mod">
          <ac:chgData name="g8arjav.jain@gmail.com" userId="2182d22d357d8f45" providerId="LiveId" clId="{862F8D8A-A2A2-410C-8BEF-038D305339AB}" dt="2026-09-09T19:24:42.590" v="15" actId="22"/>
          <ac:picMkLst>
            <pc:docMk/>
            <pc:sldMk cId="0" sldId="258"/>
            <ac:picMk id="3" creationId="{31C899A0-17B1-69A4-A9AB-3AE0FEE662DB}"/>
          </ac:picMkLst>
        </pc:picChg>
        <pc:picChg chg="add del mod">
          <ac:chgData name="g8arjav.jain@gmail.com" userId="2182d22d357d8f45" providerId="LiveId" clId="{862F8D8A-A2A2-410C-8BEF-038D305339AB}" dt="2026-09-10T05:38:26.792" v="22" actId="478"/>
          <ac:picMkLst>
            <pc:docMk/>
            <pc:sldMk cId="0" sldId="258"/>
            <ac:picMk id="60" creationId="{B9E7BD6E-C8D0-728F-D539-FE3A2779BB5E}"/>
          </ac:picMkLst>
        </pc:picChg>
        <pc:picChg chg="add del mod">
          <ac:chgData name="g8arjav.jain@gmail.com" userId="2182d22d357d8f45" providerId="LiveId" clId="{862F8D8A-A2A2-410C-8BEF-038D305339AB}" dt="2026-09-10T05:43:22.556" v="25" actId="478"/>
          <ac:picMkLst>
            <pc:docMk/>
            <pc:sldMk cId="0" sldId="258"/>
            <ac:picMk id="62" creationId="{4896F021-2C4D-D439-9E32-BC9E2187FDAA}"/>
          </ac:picMkLst>
        </pc:picChg>
        <pc:picChg chg="add del mod">
          <ac:chgData name="g8arjav.jain@gmail.com" userId="2182d22d357d8f45" providerId="LiveId" clId="{862F8D8A-A2A2-410C-8BEF-038D305339AB}" dt="2026-09-10T05:48:31.799" v="33" actId="478"/>
          <ac:picMkLst>
            <pc:docMk/>
            <pc:sldMk cId="0" sldId="258"/>
            <ac:picMk id="64" creationId="{EC8A3BB9-CF53-C056-60C6-A03065DCC22C}"/>
          </ac:picMkLst>
        </pc:picChg>
        <pc:picChg chg="add del mod">
          <ac:chgData name="g8arjav.jain@gmail.com" userId="2182d22d357d8f45" providerId="LiveId" clId="{862F8D8A-A2A2-410C-8BEF-038D305339AB}" dt="2026-09-10T05:50:38.791" v="46" actId="478"/>
          <ac:picMkLst>
            <pc:docMk/>
            <pc:sldMk cId="0" sldId="258"/>
            <ac:picMk id="66" creationId="{1A855B72-AB0D-D70D-7E41-DAA82DE96688}"/>
          </ac:picMkLst>
        </pc:picChg>
        <pc:picChg chg="add del mod">
          <ac:chgData name="g8arjav.jain@gmail.com" userId="2182d22d357d8f45" providerId="LiveId" clId="{862F8D8A-A2A2-410C-8BEF-038D305339AB}" dt="2026-09-10T05:51:16.780" v="53" actId="478"/>
          <ac:picMkLst>
            <pc:docMk/>
            <pc:sldMk cId="0" sldId="258"/>
            <ac:picMk id="68" creationId="{4359A4C9-A949-0061-936B-E5A12BE3FD26}"/>
          </ac:picMkLst>
        </pc:picChg>
        <pc:picChg chg="add del mod">
          <ac:chgData name="g8arjav.jain@gmail.com" userId="2182d22d357d8f45" providerId="LiveId" clId="{862F8D8A-A2A2-410C-8BEF-038D305339AB}" dt="2026-09-10T05:52:25.385" v="62" actId="478"/>
          <ac:picMkLst>
            <pc:docMk/>
            <pc:sldMk cId="0" sldId="258"/>
            <ac:picMk id="70" creationId="{FED5CAC6-AA5B-40D8-DC52-4C917EEA2401}"/>
          </ac:picMkLst>
        </pc:picChg>
        <pc:picChg chg="add del mod">
          <ac:chgData name="g8arjav.jain@gmail.com" userId="2182d22d357d8f45" providerId="LiveId" clId="{862F8D8A-A2A2-410C-8BEF-038D305339AB}" dt="2026-09-10T06:03:02.754" v="72" actId="478"/>
          <ac:picMkLst>
            <pc:docMk/>
            <pc:sldMk cId="0" sldId="258"/>
            <ac:picMk id="72" creationId="{ADE96C28-41A8-CB2A-1F2A-F9B4954911B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D654B3-A08B-4323-B30A-3A4D6D429EE7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65ACFB-F38D-4852-9638-A7C69342BA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33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5ACFB-F38D-4852-9638-A7C69342BA8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51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www.ansys.com/en-in/products/ansys-workbench" TargetMode="External"/><Relationship Id="rId7" Type="http://schemas.openxmlformats.org/officeDocument/2006/relationships/hyperlink" Target="https://www.fhnw.ch/en/engineering-environment/research-services/research/projects/passive-solar-heated-houses-psh-in-ladakh-india" TargetMode="External"/><Relationship Id="rId2" Type="http://schemas.openxmlformats.org/officeDocument/2006/relationships/hyperlink" Target="https://power.larc.nasa.gov/docs/services/api/temporal/hourly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researchgate.net/publication/279186605_Vernacular_Architecture_and_Climatic_Control_in_the_extreme_conditions_of_Ladakh_ASPIRE-2013" TargetMode="External"/><Relationship Id="rId5" Type="http://schemas.openxmlformats.org/officeDocument/2006/relationships/hyperlink" Target="https://gbpihed.gov.in/blog_exploring_passive_solar_heated_buildings_in_Leh_Ladakh.php" TargetMode="External"/><Relationship Id="rId4" Type="http://schemas.openxmlformats.org/officeDocument/2006/relationships/hyperlink" Target="chrome-extension://efaidnbmnnnibpcajpcglclefindmkaj/https:/mausam.imd.gov.in/leh/mcdata/City.pdf" TargetMode="External"/><Relationship Id="rId9" Type="http://schemas.openxmlformats.org/officeDocument/2006/relationships/hyperlink" Target="https://arch.su.ac.th/images/publications/ISVS12/20-Dinal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/>
        </p:nvSpPr>
        <p:spPr>
          <a:xfrm>
            <a:off x="1243584" y="1207008"/>
            <a:ext cx="8531352" cy="457200"/>
          </a:xfrm>
        </p:spPr>
        <p:txBody>
          <a:bodyPr/>
          <a:lstStyle/>
          <a:p>
            <a:pPr algn="ctr"/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/>
        </p:nvSpPr>
        <p:spPr>
          <a:xfrm>
            <a:off x="329184" y="137160"/>
            <a:ext cx="9875520" cy="594360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234D7D"/>
                </a:solidFill>
                <a:latin typeface="Times New Roman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1"/>
            <a:ext cx="5764714" cy="4285524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/>
          <a:p>
            <a:endParaRPr lang="en-US" sz="1100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b="1" dirty="0">
                <a:solidFill>
                  <a:srgbClr val="234D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SIH26051</a:t>
            </a:r>
          </a:p>
          <a:p>
            <a:pPr algn="just">
              <a:lnSpc>
                <a:spcPct val="100000"/>
              </a:lnSpc>
            </a:pPr>
            <a:endParaRPr lang="en-US" sz="2400" b="1" dirty="0">
              <a:solidFill>
                <a:srgbClr val="234D7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lang="en-IN" sz="1600" b="1" dirty="0">
                <a:solidFill>
                  <a:srgbClr val="234D7D"/>
                </a:solidFill>
              </a:rPr>
              <a:t>Software Based Model Development for Design of Area Specific Shelter for Thermal Comfort Maintenance</a:t>
            </a:r>
          </a:p>
          <a:p>
            <a:pPr algn="just">
              <a:lnSpc>
                <a:spcPct val="120000"/>
              </a:lnSpc>
            </a:pPr>
            <a:endParaRPr lang="en-IN" sz="1600" b="1" dirty="0">
              <a:solidFill>
                <a:srgbClr val="234D7D"/>
              </a:solidFill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Theme –  </a:t>
            </a:r>
            <a:r>
              <a:rPr lang="en-US" sz="1400" b="1" dirty="0">
                <a:solidFill>
                  <a:srgbClr val="234D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Miscellaneous</a:t>
            </a:r>
          </a:p>
          <a:p>
            <a:pPr algn="just">
              <a:lnSpc>
                <a:spcPct val="200000"/>
              </a:lnSpc>
            </a:pP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</a:t>
            </a:r>
            <a:r>
              <a:rPr lang="en-US" sz="1400" b="1" dirty="0">
                <a:solidFill>
                  <a:srgbClr val="234D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algn="just">
              <a:lnSpc>
                <a:spcPct val="200000"/>
              </a:lnSpc>
            </a:pP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Team ID –  </a:t>
            </a:r>
            <a:r>
              <a:rPr lang="en-US" sz="1400" b="1" dirty="0">
                <a:solidFill>
                  <a:srgbClr val="234D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[team ID]</a:t>
            </a:r>
          </a:p>
          <a:p>
            <a:pPr algn="just">
              <a:lnSpc>
                <a:spcPct val="200000"/>
              </a:lnSpc>
            </a:pP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– </a:t>
            </a:r>
            <a:r>
              <a:rPr lang="en-US" sz="1400" b="1" dirty="0">
                <a:solidFill>
                  <a:srgbClr val="234D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ASPIRE</a:t>
            </a:r>
            <a:endParaRPr lang="en-IN" sz="1400" b="1" dirty="0">
              <a:solidFill>
                <a:srgbClr val="234D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rcRect r="59916"/>
          <a:stretch>
            <a:fillRect/>
          </a:stretch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384048" y="1005840"/>
            <a:ext cx="4709160" cy="5285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420624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dirty="0">
                <a:solidFill>
                  <a:srgbClr val="234D7D"/>
                </a:solidFill>
                <a:latin typeface="Aptos"/>
              </a:rPr>
              <a:t>What the problem statement is asking us to build</a:t>
            </a:r>
            <a:endParaRPr lang="en-US" sz="1800" b="1" dirty="0">
              <a:solidFill>
                <a:srgbClr val="234D7D"/>
              </a:solidFill>
              <a:latin typeface="Aptos"/>
            </a:endParaRPr>
          </a:p>
          <a:p>
            <a:pPr algn="l"/>
            <a:endParaRPr sz="1800" b="1" dirty="0">
              <a:solidFill>
                <a:srgbClr val="234D7D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1673352"/>
            <a:ext cx="4160520" cy="242271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19191E"/>
                </a:solidFill>
                <a:latin typeface="Aptos"/>
              </a:defRPr>
            </a:pPr>
            <a:endParaRPr lang="en-US" dirty="0">
              <a:solidFill>
                <a:srgbClr val="202B3F"/>
              </a:solidFill>
            </a:endParaRPr>
          </a:p>
          <a:p>
            <a:pPr>
              <a:spcAft>
                <a:spcPts val="500"/>
              </a:spcAft>
              <a:defRPr sz="1220">
                <a:solidFill>
                  <a:srgbClr val="19191E"/>
                </a:solidFill>
                <a:latin typeface="Aptos"/>
              </a:defRPr>
            </a:pPr>
            <a:r>
              <a:rPr dirty="0">
                <a:solidFill>
                  <a:srgbClr val="202B3F"/>
                </a:solidFill>
              </a:rPr>
              <a:t>• A software model that predicts shelter temperature for a chosen outdoor climate.</a:t>
            </a:r>
          </a:p>
          <a:p>
            <a:pPr>
              <a:spcAft>
                <a:spcPts val="500"/>
              </a:spcAft>
              <a:defRPr sz="1220">
                <a:solidFill>
                  <a:srgbClr val="19191E"/>
                </a:solidFill>
                <a:latin typeface="Aptos"/>
              </a:defRPr>
            </a:pPr>
            <a:r>
              <a:rPr dirty="0">
                <a:solidFill>
                  <a:srgbClr val="202B3F"/>
                </a:solidFill>
              </a:rPr>
              <a:t>• A user can change shelter size, shape, orientation, openings, material and thickness.</a:t>
            </a:r>
          </a:p>
          <a:p>
            <a:pPr>
              <a:spcAft>
                <a:spcPts val="500"/>
              </a:spcAft>
              <a:defRPr sz="1220">
                <a:solidFill>
                  <a:srgbClr val="19191E"/>
                </a:solidFill>
                <a:latin typeface="Aptos"/>
              </a:defRPr>
            </a:pPr>
            <a:r>
              <a:rPr dirty="0">
                <a:solidFill>
                  <a:srgbClr val="202B3F"/>
                </a:solidFill>
              </a:rPr>
              <a:t>• Real weather and solar-radiation data are used instead of fixed assumptions.</a:t>
            </a:r>
          </a:p>
          <a:p>
            <a:pPr>
              <a:spcAft>
                <a:spcPts val="500"/>
              </a:spcAft>
              <a:defRPr sz="1220">
                <a:solidFill>
                  <a:srgbClr val="19191E"/>
                </a:solidFill>
                <a:latin typeface="Aptos"/>
              </a:defRPr>
            </a:pPr>
            <a:r>
              <a:rPr dirty="0">
                <a:solidFill>
                  <a:srgbClr val="202B3F"/>
                </a:solidFill>
              </a:rPr>
              <a:t>• Different designs are compared under the same ambient conditions.</a:t>
            </a:r>
          </a:p>
          <a:p>
            <a:pPr>
              <a:spcAft>
                <a:spcPts val="500"/>
              </a:spcAft>
              <a:defRPr sz="1220">
                <a:solidFill>
                  <a:srgbClr val="19191E"/>
                </a:solidFill>
                <a:latin typeface="Aptos"/>
              </a:defRPr>
            </a:pPr>
            <a:r>
              <a:rPr dirty="0">
                <a:solidFill>
                  <a:srgbClr val="202B3F"/>
                </a:solidFill>
              </a:rPr>
              <a:t>• The final output recommends the combination that maintains comfort with less active heating.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15968"/>
            <a:ext cx="4187952" cy="1664208"/>
          </a:xfrm>
          <a:prstGeom prst="roundRect">
            <a:avLst/>
          </a:prstGeom>
          <a:solidFill>
            <a:srgbClr val="EBF8FD"/>
          </a:solidFill>
          <a:ln w="10160">
            <a:solidFill>
              <a:srgbClr val="2F9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4507992"/>
            <a:ext cx="3749039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1">
                <a:solidFill>
                  <a:srgbClr val="234D7D"/>
                </a:solidFill>
                <a:latin typeface="Aptos"/>
              </a:rPr>
              <a:t>Why Ladakh?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846320"/>
            <a:ext cx="3657600" cy="9601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202B3F"/>
                </a:solidFill>
              </a:rPr>
              <a:t>• Large day/night temperature variation.</a:t>
            </a:r>
          </a:p>
          <a:p>
            <a:pPr>
              <a:spcAft>
                <a:spcPts val="400"/>
              </a:spcAft>
              <a:defRPr sz="108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202B3F"/>
                </a:solidFill>
              </a:rPr>
              <a:t>• Strong solar resource makes passive solar gain useful.</a:t>
            </a:r>
          </a:p>
          <a:p>
            <a:pPr>
              <a:spcAft>
                <a:spcPts val="400"/>
              </a:spcAft>
              <a:defRPr sz="108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202B3F"/>
                </a:solidFill>
              </a:rPr>
              <a:t>• Heat loss through walls, roofs and openings is significant.</a:t>
            </a:r>
          </a:p>
          <a:p>
            <a:pPr>
              <a:spcAft>
                <a:spcPts val="400"/>
              </a:spcAft>
              <a:defRPr sz="108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202B3F"/>
                </a:solidFill>
              </a:rPr>
              <a:t>• Thermal mass + insulation can store daytime heat and slow night-time losses.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005840"/>
            <a:ext cx="6446520" cy="2212848"/>
          </a:xfrm>
          <a:prstGeom prst="roundRect">
            <a:avLst/>
          </a:prstGeom>
          <a:solidFill>
            <a:srgbClr val="F8F4FD"/>
          </a:solidFill>
          <a:ln w="10160">
            <a:solidFill>
              <a:srgbClr val="C4B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1216152"/>
            <a:ext cx="58978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234D7D"/>
                </a:solidFill>
                <a:latin typeface="Aptos"/>
              </a:rPr>
              <a:t>Core design principle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22976" y="1719072"/>
            <a:ext cx="1353312" cy="1161288"/>
          </a:xfrm>
          <a:prstGeom prst="roundRect">
            <a:avLst/>
          </a:prstGeom>
          <a:solidFill>
            <a:srgbClr val="FFFBE5"/>
          </a:solidFill>
          <a:ln w="10160">
            <a:solidFill>
              <a:srgbClr val="EFC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68696" y="1856231"/>
            <a:ext cx="1261872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960" b="1" dirty="0">
                <a:solidFill>
                  <a:schemeClr val="tx2"/>
                </a:solidFill>
                <a:latin typeface="Aptos"/>
              </a:rPr>
              <a:t>SOLAR GAIN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2227856"/>
            <a:ext cx="120700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0" dirty="0">
                <a:solidFill>
                  <a:srgbClr val="19191E"/>
                </a:solidFill>
                <a:latin typeface="Aptos"/>
              </a:rPr>
              <a:t>Capture useful winter sunlight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59168" y="1719072"/>
            <a:ext cx="1353312" cy="1161288"/>
          </a:xfrm>
          <a:prstGeom prst="roundRect">
            <a:avLst/>
          </a:prstGeom>
          <a:solidFill>
            <a:srgbClr val="FDF2E9"/>
          </a:solidFill>
          <a:ln w="10160">
            <a:solidFill>
              <a:srgbClr val="EB8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04888" y="1856231"/>
            <a:ext cx="1261872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960" b="1" dirty="0">
                <a:solidFill>
                  <a:schemeClr val="tx2"/>
                </a:solidFill>
                <a:latin typeface="Aptos"/>
              </a:rPr>
              <a:t>THERMAL MASS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227856"/>
            <a:ext cx="120700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0" dirty="0">
                <a:solidFill>
                  <a:srgbClr val="19191E"/>
                </a:solidFill>
                <a:latin typeface="Aptos"/>
              </a:rPr>
              <a:t>Store heat and release it later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1719072"/>
            <a:ext cx="1353312" cy="1161288"/>
          </a:xfrm>
          <a:prstGeom prst="roundRect">
            <a:avLst/>
          </a:prstGeom>
          <a:solidFill>
            <a:srgbClr val="EDF9EF"/>
          </a:solidFill>
          <a:ln w="10160">
            <a:solidFill>
              <a:srgbClr val="40B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41080" y="1856231"/>
            <a:ext cx="1261872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960" b="1" dirty="0">
                <a:solidFill>
                  <a:schemeClr val="tx2"/>
                </a:solidFill>
                <a:latin typeface="Aptos"/>
              </a:rPr>
              <a:t>INSULATION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8512" y="2227856"/>
            <a:ext cx="120700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0" dirty="0">
                <a:solidFill>
                  <a:srgbClr val="19191E"/>
                </a:solidFill>
                <a:latin typeface="Aptos"/>
              </a:rPr>
              <a:t>Reduce conductive heat loss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31552" y="1719072"/>
            <a:ext cx="1353312" cy="1161288"/>
          </a:xfrm>
          <a:prstGeom prst="roundRect">
            <a:avLst/>
          </a:prstGeom>
          <a:solidFill>
            <a:srgbClr val="EBF8FD"/>
          </a:solidFill>
          <a:ln w="10160">
            <a:solidFill>
              <a:srgbClr val="2F9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77272" y="1856231"/>
            <a:ext cx="1261872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960" b="1" dirty="0">
                <a:solidFill>
                  <a:schemeClr val="tx2"/>
                </a:solidFill>
                <a:latin typeface="Aptos"/>
              </a:rPr>
              <a:t>ORIENTATION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04704" y="2227856"/>
            <a:ext cx="1207008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0" dirty="0">
                <a:solidFill>
                  <a:srgbClr val="19191E"/>
                </a:solidFill>
                <a:latin typeface="Aptos"/>
              </a:rPr>
              <a:t>Use site-specific solar exposure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3474720"/>
            <a:ext cx="6446520" cy="2816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77840" y="3675887"/>
            <a:ext cx="58978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234D7D"/>
                </a:solidFill>
                <a:latin typeface="Aptos"/>
              </a:rPr>
              <a:t>Three required outputs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13832" y="4160520"/>
            <a:ext cx="1856231" cy="1664208"/>
          </a:xfrm>
          <a:prstGeom prst="roundRect">
            <a:avLst/>
          </a:prstGeom>
          <a:solidFill>
            <a:srgbClr val="EBF8FD"/>
          </a:solidFill>
          <a:ln w="10160">
            <a:solidFill>
              <a:srgbClr val="3EB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23560" y="4297680"/>
            <a:ext cx="384048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3EBEDD"/>
                </a:solidFill>
                <a:latin typeface="Aptos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645152"/>
            <a:ext cx="1627632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 dirty="0">
                <a:solidFill>
                  <a:schemeClr val="tx2"/>
                </a:solidFill>
                <a:latin typeface="Aptos"/>
              </a:rPr>
              <a:t>Indoor temperature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4983480"/>
            <a:ext cx="1627632" cy="3785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en-IN" sz="1050" b="0" dirty="0">
                <a:solidFill>
                  <a:srgbClr val="5C5E68"/>
                </a:solidFill>
                <a:latin typeface="Aptos"/>
              </a:rPr>
              <a:t>T_inside</a:t>
            </a:r>
            <a:r>
              <a:rPr sz="1050" b="0" dirty="0">
                <a:solidFill>
                  <a:srgbClr val="5C5E68"/>
                </a:solidFill>
                <a:latin typeface="Aptos"/>
              </a:rPr>
              <a:t>(t) for the selected geometry and materials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25512" y="4160520"/>
            <a:ext cx="1856231" cy="1664208"/>
          </a:xfrm>
          <a:prstGeom prst="roundRect">
            <a:avLst/>
          </a:prstGeom>
          <a:solidFill>
            <a:srgbClr val="FFFBE5"/>
          </a:solidFill>
          <a:ln w="10160">
            <a:solidFill>
              <a:srgbClr val="EFC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35240" y="4297680"/>
            <a:ext cx="384048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EFC62B"/>
                </a:solidFill>
                <a:latin typeface="Apto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4645152"/>
            <a:ext cx="1627632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 dirty="0">
                <a:solidFill>
                  <a:schemeClr val="tx2"/>
                </a:solidFill>
                <a:latin typeface="Aptos"/>
              </a:rPr>
              <a:t>Solar energy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4983480"/>
            <a:ext cx="1627632" cy="3785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 dirty="0">
                <a:solidFill>
                  <a:srgbClr val="5C5E68"/>
                </a:solidFill>
                <a:latin typeface="Aptos"/>
              </a:rPr>
              <a:t>Heat gained from incident solar radiation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37192" y="4160520"/>
            <a:ext cx="1856231" cy="1664208"/>
          </a:xfrm>
          <a:prstGeom prst="roundRect">
            <a:avLst/>
          </a:prstGeom>
          <a:solidFill>
            <a:srgbClr val="FDF0F9"/>
          </a:solidFill>
          <a:ln w="10160">
            <a:solidFill>
              <a:srgbClr val="DC5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46919" y="4297680"/>
            <a:ext cx="384048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DC5CAB"/>
                </a:solidFill>
                <a:latin typeface="Aptos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19" y="4645152"/>
            <a:ext cx="1627632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 dirty="0">
                <a:solidFill>
                  <a:schemeClr val="tx2"/>
                </a:solidFill>
                <a:latin typeface="Aptos"/>
              </a:rPr>
              <a:t>Heat flow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19" y="4983480"/>
            <a:ext cx="1627632" cy="5401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 dirty="0">
                <a:solidFill>
                  <a:srgbClr val="5C5E68"/>
                </a:solidFill>
                <a:latin typeface="Aptos"/>
              </a:rPr>
              <a:t>Heat entering/leaving through the envelope over time</a:t>
            </a:r>
          </a:p>
        </p:txBody>
      </p:sp>
      <p:sp>
        <p:nvSpPr>
          <p:cNvPr id="41" name="Oval 40"/>
          <p:cNvSpPr/>
          <p:nvPr/>
        </p:nvSpPr>
        <p:spPr>
          <a:xfrm>
            <a:off x="318516" y="86868"/>
            <a:ext cx="1252728" cy="804672"/>
          </a:xfrm>
          <a:prstGeom prst="ellipse">
            <a:avLst/>
          </a:prstGeom>
          <a:noFill/>
          <a:ln w="19050">
            <a:solidFill>
              <a:srgbClr val="84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dirty="0">
                <a:solidFill>
                  <a:srgbClr val="202B3F"/>
                </a:solidFill>
                <a:latin typeface="Arial"/>
              </a:rPr>
              <a:t>A</a:t>
            </a:r>
            <a:r>
              <a:rPr lang="en-US" sz="1500" dirty="0">
                <a:solidFill>
                  <a:srgbClr val="202B3F"/>
                </a:solidFill>
                <a:latin typeface="Arial"/>
              </a:rPr>
              <a:t>SPIRE</a:t>
            </a:r>
            <a:endParaRPr sz="1500" dirty="0">
              <a:solidFill>
                <a:srgbClr val="202B3F"/>
              </a:solidFill>
              <a:latin typeface="Arial"/>
            </a:endParaRP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966" y="0"/>
            <a:ext cx="2002537" cy="944286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645152" y="6446520"/>
            <a:ext cx="3200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 dirty="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84280" y="6473952"/>
            <a:ext cx="3657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7597BB-BCEF-09B3-6E03-762A7A5C240F}"/>
              </a:ext>
            </a:extLst>
          </p:cNvPr>
          <p:cNvSpPr txBox="1"/>
          <p:nvPr/>
        </p:nvSpPr>
        <p:spPr>
          <a:xfrm>
            <a:off x="2235707" y="86868"/>
            <a:ext cx="71460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climate-specific digital model for designing passive shelters in Ladakh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365760" y="987552"/>
            <a:ext cx="5650992" cy="5321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188720"/>
            <a:ext cx="5138928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234D7D"/>
                </a:solidFill>
                <a:latin typeface="Aptos"/>
              </a:rPr>
              <a:t>Thermal simulation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" y="1645920"/>
            <a:ext cx="4800600" cy="594360"/>
          </a:xfrm>
          <a:prstGeom prst="roundRect">
            <a:avLst/>
          </a:prstGeom>
          <a:solidFill>
            <a:srgbClr val="EBF8FD"/>
          </a:solidFill>
          <a:ln w="10160">
            <a:solidFill>
              <a:srgbClr val="3EB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3" y="1719072"/>
            <a:ext cx="4654296" cy="247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50" b="1" dirty="0">
                <a:solidFill>
                  <a:srgbClr val="3EBEDD"/>
                </a:solidFill>
                <a:latin typeface="Aptos"/>
              </a:rPr>
              <a:t>1</a:t>
            </a:r>
            <a:r>
              <a:rPr lang="en-US" sz="1250" b="1" dirty="0">
                <a:solidFill>
                  <a:srgbClr val="3EBEDD"/>
                </a:solidFill>
                <a:latin typeface="Aptos"/>
              </a:rPr>
              <a:t>.</a:t>
            </a:r>
            <a:r>
              <a:rPr sz="1250" b="1" dirty="0">
                <a:solidFill>
                  <a:srgbClr val="3EBEDD"/>
                </a:solidFill>
                <a:latin typeface="Aptos"/>
              </a:rPr>
              <a:t>  CLIMATE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72495"/>
            <a:ext cx="4581144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100" b="0" dirty="0">
                <a:solidFill>
                  <a:srgbClr val="19191E"/>
                </a:solidFill>
                <a:latin typeface="Aptos"/>
              </a:rPr>
              <a:t>NASA POWER hourly temperature,</a:t>
            </a:r>
            <a:r>
              <a:rPr lang="en-US" sz="1100" b="0" dirty="0">
                <a:solidFill>
                  <a:srgbClr val="19191E"/>
                </a:solidFill>
                <a:latin typeface="Aptos"/>
              </a:rPr>
              <a:t> </a:t>
            </a:r>
            <a:r>
              <a:rPr sz="1100" b="0" dirty="0">
                <a:solidFill>
                  <a:srgbClr val="19191E"/>
                </a:solidFill>
                <a:latin typeface="Aptos"/>
              </a:rPr>
              <a:t>solar radiation, wind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54680" y="2240280"/>
            <a:ext cx="0" cy="137160"/>
          </a:xfrm>
          <a:prstGeom prst="line">
            <a:avLst/>
          </a:prstGeom>
          <a:ln w="16510">
            <a:solidFill>
              <a:srgbClr val="5C5E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58952" y="2395728"/>
            <a:ext cx="4800600" cy="594360"/>
          </a:xfrm>
          <a:prstGeom prst="roundRect">
            <a:avLst/>
          </a:prstGeom>
          <a:solidFill>
            <a:srgbClr val="EDF9EF"/>
          </a:solidFill>
          <a:ln w="10160">
            <a:solidFill>
              <a:srgbClr val="40B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3" y="2468880"/>
            <a:ext cx="4654296" cy="247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50" b="1" dirty="0">
                <a:solidFill>
                  <a:srgbClr val="40BE7F"/>
                </a:solidFill>
                <a:latin typeface="Aptos"/>
              </a:rPr>
              <a:t>2</a:t>
            </a:r>
            <a:r>
              <a:rPr lang="en-US" sz="1250" b="1" dirty="0">
                <a:solidFill>
                  <a:srgbClr val="40BE7F"/>
                </a:solidFill>
                <a:latin typeface="Aptos"/>
              </a:rPr>
              <a:t>.</a:t>
            </a:r>
            <a:r>
              <a:rPr sz="1250" b="1" dirty="0">
                <a:solidFill>
                  <a:srgbClr val="40BE7F"/>
                </a:solidFill>
                <a:latin typeface="Aptos"/>
              </a:rPr>
              <a:t>  USER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714609"/>
            <a:ext cx="4581144" cy="24006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00" b="0" dirty="0">
                <a:solidFill>
                  <a:srgbClr val="19191E"/>
                </a:solidFill>
                <a:latin typeface="Aptos"/>
              </a:rPr>
              <a:t>Dimensions, orientation,</a:t>
            </a:r>
            <a:r>
              <a:rPr lang="en-US" sz="1200" b="0" dirty="0">
                <a:solidFill>
                  <a:srgbClr val="19191E"/>
                </a:solidFill>
                <a:latin typeface="Aptos"/>
              </a:rPr>
              <a:t> </a:t>
            </a:r>
            <a:r>
              <a:rPr sz="1200" b="0" dirty="0">
                <a:solidFill>
                  <a:srgbClr val="19191E"/>
                </a:solidFill>
                <a:latin typeface="Aptos"/>
              </a:rPr>
              <a:t>openings, materials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54680" y="2990088"/>
            <a:ext cx="0" cy="137160"/>
          </a:xfrm>
          <a:prstGeom prst="line">
            <a:avLst/>
          </a:prstGeom>
          <a:ln w="16510">
            <a:solidFill>
              <a:srgbClr val="5C5E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58952" y="3145536"/>
            <a:ext cx="4800600" cy="594360"/>
          </a:xfrm>
          <a:prstGeom prst="roundRect">
            <a:avLst/>
          </a:prstGeom>
          <a:solidFill>
            <a:srgbClr val="FDF2E9"/>
          </a:solidFill>
          <a:ln w="10160">
            <a:solidFill>
              <a:srgbClr val="EB8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3" y="3218688"/>
            <a:ext cx="4654296" cy="247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50" b="1" dirty="0">
                <a:solidFill>
                  <a:srgbClr val="EB8B3D"/>
                </a:solidFill>
                <a:latin typeface="Aptos"/>
              </a:rPr>
              <a:t>3</a:t>
            </a:r>
            <a:r>
              <a:rPr lang="en-US" sz="1250" b="1" dirty="0">
                <a:solidFill>
                  <a:srgbClr val="EB8B3D"/>
                </a:solidFill>
                <a:latin typeface="Aptos"/>
              </a:rPr>
              <a:t>.</a:t>
            </a:r>
            <a:r>
              <a:rPr sz="1250" b="1" dirty="0">
                <a:solidFill>
                  <a:srgbClr val="EB8B3D"/>
                </a:solidFill>
                <a:latin typeface="Aptos"/>
              </a:rPr>
              <a:t> PYTHON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464417"/>
            <a:ext cx="4581144" cy="24006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00" b="0" dirty="0">
                <a:solidFill>
                  <a:srgbClr val="19191E"/>
                </a:solidFill>
                <a:latin typeface="Aptos"/>
              </a:rPr>
              <a:t>U-value + thermal mass +</a:t>
            </a:r>
            <a:r>
              <a:rPr lang="en-US" sz="1200" b="0" dirty="0">
                <a:solidFill>
                  <a:srgbClr val="19191E"/>
                </a:solidFill>
                <a:latin typeface="Aptos"/>
              </a:rPr>
              <a:t> </a:t>
            </a:r>
            <a:r>
              <a:rPr sz="1200" b="0" dirty="0">
                <a:solidFill>
                  <a:srgbClr val="19191E"/>
                </a:solidFill>
                <a:latin typeface="Aptos"/>
              </a:rPr>
              <a:t>solar gain + RK4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54680" y="3739896"/>
            <a:ext cx="0" cy="137160"/>
          </a:xfrm>
          <a:prstGeom prst="line">
            <a:avLst/>
          </a:prstGeom>
          <a:ln w="16510">
            <a:solidFill>
              <a:srgbClr val="5C5E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58952" y="3895344"/>
            <a:ext cx="4800600" cy="594360"/>
          </a:xfrm>
          <a:prstGeom prst="roundRect">
            <a:avLst/>
          </a:prstGeom>
          <a:solidFill>
            <a:srgbClr val="F8F4FD"/>
          </a:solidFill>
          <a:ln w="10160">
            <a:solidFill>
              <a:srgbClr val="7E5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3" y="3968496"/>
            <a:ext cx="4654296" cy="247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50" b="1" dirty="0">
                <a:solidFill>
                  <a:srgbClr val="7E5BB2"/>
                </a:solidFill>
                <a:latin typeface="Aptos"/>
              </a:rPr>
              <a:t>4</a:t>
            </a:r>
            <a:r>
              <a:rPr lang="en-US" sz="1250" b="1" dirty="0">
                <a:solidFill>
                  <a:srgbClr val="7E5BB2"/>
                </a:solidFill>
                <a:latin typeface="Aptos"/>
              </a:rPr>
              <a:t>.</a:t>
            </a:r>
            <a:r>
              <a:rPr sz="1250" b="1" dirty="0">
                <a:solidFill>
                  <a:srgbClr val="7E5BB2"/>
                </a:solidFill>
                <a:latin typeface="Aptos"/>
              </a:rPr>
              <a:t>  ANSYS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21919"/>
            <a:ext cx="4581144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100" b="0" dirty="0">
                <a:solidFill>
                  <a:srgbClr val="19191E"/>
                </a:solidFill>
                <a:latin typeface="Aptos"/>
              </a:rPr>
              <a:t>Detailed thermal simulation,</a:t>
            </a:r>
            <a:r>
              <a:rPr lang="en-US" sz="1100" b="0" dirty="0">
                <a:solidFill>
                  <a:srgbClr val="19191E"/>
                </a:solidFill>
                <a:latin typeface="Aptos"/>
              </a:rPr>
              <a:t> </a:t>
            </a:r>
            <a:r>
              <a:rPr sz="1100" b="0" dirty="0">
                <a:solidFill>
                  <a:srgbClr val="19191E"/>
                </a:solidFill>
                <a:latin typeface="Aptos"/>
              </a:rPr>
              <a:t>mesh + boundary conditions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54680" y="4489704"/>
            <a:ext cx="0" cy="137160"/>
          </a:xfrm>
          <a:prstGeom prst="line">
            <a:avLst/>
          </a:prstGeom>
          <a:ln w="16510">
            <a:solidFill>
              <a:srgbClr val="5C5E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58952" y="4645152"/>
            <a:ext cx="4800600" cy="594360"/>
          </a:xfrm>
          <a:prstGeom prst="roundRect">
            <a:avLst/>
          </a:prstGeom>
          <a:solidFill>
            <a:srgbClr val="FDF0F9"/>
          </a:solidFill>
          <a:ln w="10160">
            <a:solidFill>
              <a:srgbClr val="DC5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3" y="4718304"/>
            <a:ext cx="4654296" cy="247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50" b="1" dirty="0">
                <a:solidFill>
                  <a:srgbClr val="DC5CAB"/>
                </a:solidFill>
                <a:latin typeface="Aptos"/>
              </a:rPr>
              <a:t>5</a:t>
            </a:r>
            <a:r>
              <a:rPr lang="en-US" sz="1250" b="1" dirty="0">
                <a:solidFill>
                  <a:srgbClr val="DC5CAB"/>
                </a:solidFill>
                <a:latin typeface="Aptos"/>
              </a:rPr>
              <a:t>.</a:t>
            </a:r>
            <a:r>
              <a:rPr sz="1250" b="1" dirty="0">
                <a:solidFill>
                  <a:srgbClr val="DC5CAB"/>
                </a:solidFill>
                <a:latin typeface="Aptos"/>
              </a:rPr>
              <a:t> 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971726"/>
            <a:ext cx="4581144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100" b="0" dirty="0">
                <a:solidFill>
                  <a:srgbClr val="19191E"/>
                </a:solidFill>
                <a:latin typeface="Aptos"/>
              </a:rPr>
              <a:t>Materials, thickness,</a:t>
            </a:r>
            <a:r>
              <a:rPr lang="en-US" sz="1100" b="0" dirty="0">
                <a:solidFill>
                  <a:srgbClr val="19191E"/>
                </a:solidFill>
                <a:latin typeface="Aptos"/>
              </a:rPr>
              <a:t> </a:t>
            </a:r>
            <a:r>
              <a:rPr sz="1100" b="0" dirty="0">
                <a:solidFill>
                  <a:srgbClr val="19191E"/>
                </a:solidFill>
                <a:latin typeface="Aptos"/>
              </a:rPr>
              <a:t>shape and orientation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154680" y="5239512"/>
            <a:ext cx="0" cy="137160"/>
          </a:xfrm>
          <a:prstGeom prst="line">
            <a:avLst/>
          </a:prstGeom>
          <a:ln w="16510">
            <a:solidFill>
              <a:srgbClr val="5C5E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58952" y="5394960"/>
            <a:ext cx="4800600" cy="594360"/>
          </a:xfrm>
          <a:prstGeom prst="roundRect">
            <a:avLst/>
          </a:prstGeom>
          <a:solidFill>
            <a:srgbClr val="EBF8FD"/>
          </a:solidFill>
          <a:ln w="10160">
            <a:solidFill>
              <a:srgbClr val="2F9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3" y="5468112"/>
            <a:ext cx="4654296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50" b="1">
                <a:solidFill>
                  <a:srgbClr val="2F9DD3"/>
                </a:solidFill>
                <a:latin typeface="Aptos"/>
              </a:rPr>
              <a:t>6  RECOMMENDATION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721535"/>
            <a:ext cx="4581144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100" b="0" dirty="0">
                <a:solidFill>
                  <a:srgbClr val="19191E"/>
                </a:solidFill>
                <a:latin typeface="Aptos"/>
              </a:rPr>
              <a:t>Best design for comfort</a:t>
            </a:r>
            <a:r>
              <a:rPr lang="en-US" sz="1100" b="0" dirty="0">
                <a:solidFill>
                  <a:srgbClr val="19191E"/>
                </a:solidFill>
                <a:latin typeface="Aptos"/>
              </a:rPr>
              <a:t> </a:t>
            </a:r>
            <a:r>
              <a:rPr sz="1100" b="0" dirty="0">
                <a:solidFill>
                  <a:srgbClr val="19191E"/>
                </a:solidFill>
                <a:latin typeface="Aptos"/>
              </a:rPr>
              <a:t>and low heat demand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8" y="987552"/>
            <a:ext cx="5577840" cy="5321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73952" y="1188720"/>
            <a:ext cx="5102352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234D7D"/>
                </a:solidFill>
                <a:latin typeface="Aptos"/>
              </a:rPr>
              <a:t>Technology stack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65392" y="1627632"/>
            <a:ext cx="4892040" cy="585216"/>
          </a:xfrm>
          <a:prstGeom prst="roundRect">
            <a:avLst/>
          </a:prstGeom>
          <a:solidFill>
            <a:srgbClr val="F8F4FD"/>
          </a:solidFill>
          <a:ln w="10160">
            <a:solidFill>
              <a:srgbClr val="7E5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20840" y="1719072"/>
            <a:ext cx="13258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7E5BB2"/>
                </a:solidFill>
                <a:latin typeface="Aptos"/>
              </a:rPr>
              <a:t>Engineering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45550" y="1772924"/>
            <a:ext cx="3438143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dirty="0">
                <a:solidFill>
                  <a:srgbClr val="19191E"/>
                </a:solidFill>
                <a:latin typeface="Aptos"/>
              </a:rPr>
              <a:t>ANSYS Workbench  • transient thermal • parametric studies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65392" y="2267712"/>
            <a:ext cx="4892040" cy="585216"/>
          </a:xfrm>
          <a:prstGeom prst="roundRect">
            <a:avLst/>
          </a:prstGeom>
          <a:solidFill>
            <a:srgbClr val="FDF2E9"/>
          </a:solidFill>
          <a:ln w="10160">
            <a:solidFill>
              <a:srgbClr val="EB8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20840" y="2359152"/>
            <a:ext cx="13258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EB8B3D"/>
                </a:solidFill>
                <a:latin typeface="Aptos"/>
              </a:rPr>
              <a:t>Scientific Python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45552" y="2340864"/>
            <a:ext cx="3438143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dirty="0">
                <a:solidFill>
                  <a:srgbClr val="19191E"/>
                </a:solidFill>
                <a:latin typeface="Aptos"/>
              </a:rPr>
              <a:t>NumPy • Pandas • RK4 solver • U/R-value • thermal mass • heat balance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65392" y="2907791"/>
            <a:ext cx="4892040" cy="585216"/>
          </a:xfrm>
          <a:prstGeom prst="roundRect">
            <a:avLst/>
          </a:prstGeom>
          <a:solidFill>
            <a:srgbClr val="EDF9EF"/>
          </a:solidFill>
          <a:ln w="10160">
            <a:solidFill>
              <a:srgbClr val="40B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20840" y="2999232"/>
            <a:ext cx="13258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40BE7F"/>
                </a:solidFill>
                <a:latin typeface="Aptos"/>
              </a:rPr>
              <a:t>Backend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1" y="3049665"/>
            <a:ext cx="3438143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dirty="0">
                <a:solidFill>
                  <a:srgbClr val="19191E"/>
                </a:solidFill>
                <a:latin typeface="Aptos"/>
              </a:rPr>
              <a:t>Flask • Flask-CORS • REST API • JSON simulation endpoints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65392" y="3547872"/>
            <a:ext cx="4892040" cy="585216"/>
          </a:xfrm>
          <a:prstGeom prst="roundRect">
            <a:avLst/>
          </a:prstGeom>
          <a:solidFill>
            <a:srgbClr val="EBF8FD"/>
          </a:solidFill>
          <a:ln w="10160">
            <a:solidFill>
              <a:srgbClr val="3EB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20840" y="3639312"/>
            <a:ext cx="13258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3EBEDD"/>
                </a:solidFill>
                <a:latin typeface="Aptos"/>
              </a:rPr>
              <a:t>Frontend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45552" y="3690766"/>
            <a:ext cx="3438143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dirty="0">
                <a:solidFill>
                  <a:srgbClr val="19191E"/>
                </a:solidFill>
                <a:latin typeface="Aptos"/>
              </a:rPr>
              <a:t>HTML/CSS/JavaScript • Chart.js • Three.js • </a:t>
            </a:r>
            <a:r>
              <a:rPr sz="1000" b="0" dirty="0" err="1">
                <a:solidFill>
                  <a:srgbClr val="19191E"/>
                </a:solidFill>
                <a:latin typeface="Aptos"/>
              </a:rPr>
              <a:t>OrbitControls</a:t>
            </a:r>
            <a:endParaRPr sz="1000" b="0" dirty="0">
              <a:solidFill>
                <a:srgbClr val="19191E"/>
              </a:solidFill>
              <a:latin typeface="Aptos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565392" y="4187952"/>
            <a:ext cx="4892040" cy="585216"/>
          </a:xfrm>
          <a:prstGeom prst="roundRect">
            <a:avLst/>
          </a:prstGeom>
          <a:solidFill>
            <a:srgbClr val="EBF8FD"/>
          </a:solidFill>
          <a:ln w="10160">
            <a:solidFill>
              <a:srgbClr val="2F9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20840" y="4279392"/>
            <a:ext cx="13258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2F9DD3"/>
                </a:solidFill>
                <a:latin typeface="Aptos"/>
              </a:rPr>
              <a:t>Data layer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45552" y="4261104"/>
            <a:ext cx="3438143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dirty="0">
                <a:solidFill>
                  <a:srgbClr val="19191E"/>
                </a:solidFill>
                <a:latin typeface="Aptos"/>
              </a:rPr>
              <a:t>NASA POWER hourly data • material-property CSV • optional SQLite/PostgreSQL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65392" y="4828032"/>
            <a:ext cx="4892040" cy="585216"/>
          </a:xfrm>
          <a:prstGeom prst="roundRect">
            <a:avLst/>
          </a:prstGeom>
          <a:solidFill>
            <a:srgbClr val="FDF0F9"/>
          </a:solidFill>
          <a:ln w="10160">
            <a:solidFill>
              <a:srgbClr val="DC5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720840" y="4919472"/>
            <a:ext cx="13258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DC5CAB"/>
                </a:solidFill>
                <a:latin typeface="Aptos"/>
              </a:rPr>
              <a:t>Sensors / IoT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45552" y="4901184"/>
            <a:ext cx="3438143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dirty="0">
                <a:solidFill>
                  <a:srgbClr val="19191E"/>
                </a:solidFill>
                <a:latin typeface="Aptos"/>
              </a:rPr>
              <a:t>ESP32/Arduino • temperature • humidity • solar irradiance • wind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65392" y="5468112"/>
            <a:ext cx="4892040" cy="585216"/>
          </a:xfrm>
          <a:prstGeom prst="roundRect">
            <a:avLst/>
          </a:prstGeom>
          <a:solidFill>
            <a:srgbClr val="FFFBE5"/>
          </a:solidFill>
          <a:ln w="10160">
            <a:solidFill>
              <a:srgbClr val="EFC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720840" y="5559552"/>
            <a:ext cx="13258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EFC62B"/>
                </a:solidFill>
                <a:latin typeface="Aptos"/>
              </a:rPr>
              <a:t>Deployment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45552" y="5541264"/>
            <a:ext cx="3438143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 dirty="0">
                <a:solidFill>
                  <a:srgbClr val="19191E"/>
                </a:solidFill>
                <a:latin typeface="Aptos"/>
              </a:rPr>
              <a:t>Git/GitHub • Docker • cached/offline datasets for remote sites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880" y="54864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 dirty="0">
                <a:solidFill>
                  <a:srgbClr val="000000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5262" y="664723"/>
            <a:ext cx="5270995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 dirty="0">
                <a:solidFill>
                  <a:schemeClr val="tx2"/>
                </a:solidFill>
                <a:latin typeface="Arial"/>
              </a:rPr>
              <a:t>Fast computational screening + ANSYS validation + interactive visualization</a:t>
            </a:r>
          </a:p>
        </p:txBody>
      </p:sp>
      <p:sp>
        <p:nvSpPr>
          <p:cNvPr id="55" name="Oval 54"/>
          <p:cNvSpPr/>
          <p:nvPr/>
        </p:nvSpPr>
        <p:spPr>
          <a:xfrm>
            <a:off x="329184" y="117713"/>
            <a:ext cx="1252728" cy="804672"/>
          </a:xfrm>
          <a:prstGeom prst="ellipse">
            <a:avLst/>
          </a:prstGeom>
          <a:noFill/>
          <a:ln w="19050">
            <a:solidFill>
              <a:srgbClr val="84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dirty="0">
                <a:solidFill>
                  <a:srgbClr val="202B3F"/>
                </a:solidFill>
                <a:latin typeface="Arial"/>
              </a:rPr>
              <a:t>A</a:t>
            </a:r>
            <a:r>
              <a:rPr lang="en-IN" sz="1500" dirty="0">
                <a:solidFill>
                  <a:srgbClr val="202B3F"/>
                </a:solidFill>
                <a:latin typeface="Arial"/>
              </a:rPr>
              <a:t>SPIRE</a:t>
            </a:r>
            <a:endParaRPr sz="1500" dirty="0">
              <a:solidFill>
                <a:srgbClr val="202B3F"/>
              </a:solidFill>
              <a:latin typeface="Arial"/>
            </a:endParaRP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0"/>
            <a:ext cx="2066544" cy="974468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645152" y="6437376"/>
            <a:ext cx="3200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 dirty="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84280" y="6437376"/>
            <a:ext cx="3657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 dirty="0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347472" y="987552"/>
            <a:ext cx="3538728" cy="4892040"/>
          </a:xfrm>
          <a:prstGeom prst="roundRect">
            <a:avLst/>
          </a:prstGeom>
          <a:solidFill>
            <a:srgbClr val="EBF8FD"/>
          </a:solidFill>
          <a:ln w="10160">
            <a:solidFill>
              <a:srgbClr val="2F9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7472" y="987552"/>
            <a:ext cx="3538728" cy="502920"/>
          </a:xfrm>
          <a:prstGeom prst="roundRect">
            <a:avLst/>
          </a:prstGeom>
          <a:solidFill>
            <a:srgbClr val="2F9DD3"/>
          </a:solidFill>
          <a:ln w="10160">
            <a:solidFill>
              <a:srgbClr val="2F9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1088136"/>
            <a:ext cx="335584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500" b="1">
                <a:solidFill>
                  <a:srgbClr val="234D7D"/>
                </a:solidFill>
                <a:latin typeface="Aptos"/>
              </a:rPr>
              <a:t>Technical feasibility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96512" y="987552"/>
            <a:ext cx="3538728" cy="4892040"/>
          </a:xfrm>
          <a:prstGeom prst="roundRect">
            <a:avLst/>
          </a:prstGeom>
          <a:solidFill>
            <a:srgbClr val="EDF9EF"/>
          </a:solidFill>
          <a:ln w="10160">
            <a:solidFill>
              <a:srgbClr val="40B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096512" y="987552"/>
            <a:ext cx="3538728" cy="502920"/>
          </a:xfrm>
          <a:prstGeom prst="roundRect">
            <a:avLst/>
          </a:prstGeom>
          <a:solidFill>
            <a:srgbClr val="40BE7F"/>
          </a:solidFill>
          <a:ln w="10160">
            <a:solidFill>
              <a:srgbClr val="40B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87952" y="1088136"/>
            <a:ext cx="335584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500" b="1">
                <a:solidFill>
                  <a:srgbClr val="234D7D"/>
                </a:solidFill>
                <a:latin typeface="Aptos"/>
              </a:rPr>
              <a:t>Operational feasibility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45552" y="987552"/>
            <a:ext cx="3538728" cy="4892040"/>
          </a:xfrm>
          <a:prstGeom prst="roundRect">
            <a:avLst/>
          </a:prstGeom>
          <a:solidFill>
            <a:srgbClr val="FDF2E9"/>
          </a:solidFill>
          <a:ln w="10160">
            <a:solidFill>
              <a:srgbClr val="EB8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845552" y="987552"/>
            <a:ext cx="3538728" cy="502920"/>
          </a:xfrm>
          <a:prstGeom prst="roundRect">
            <a:avLst/>
          </a:prstGeom>
          <a:solidFill>
            <a:srgbClr val="EB8B3D"/>
          </a:solidFill>
          <a:ln w="10160">
            <a:solidFill>
              <a:srgbClr val="EB8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36992" y="1088136"/>
            <a:ext cx="335584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500" b="1">
                <a:solidFill>
                  <a:srgbClr val="234D7D"/>
                </a:solidFill>
                <a:latin typeface="Aptos"/>
              </a:rPr>
              <a:t>Risk &amp; mitigation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673352"/>
            <a:ext cx="30632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80" b="1">
                <a:solidFill>
                  <a:srgbClr val="234D7D"/>
                </a:solidFill>
                <a:latin typeface="Aptos"/>
              </a:rPr>
              <a:t>What already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965960"/>
            <a:ext cx="3017520" cy="166814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19191E"/>
                </a:solidFill>
                <a:latin typeface="Aptos"/>
              </a:defRPr>
            </a:pPr>
            <a:r>
              <a:rPr sz="1200" dirty="0">
                <a:solidFill>
                  <a:srgbClr val="202B3F"/>
                </a:solidFill>
              </a:rPr>
              <a:t>• 1,488 hourly weather records are already available in the supplied dataset.</a:t>
            </a:r>
          </a:p>
          <a:p>
            <a:pPr>
              <a:spcAft>
                <a:spcPts val="400"/>
              </a:spcAft>
              <a:defRPr sz="1060">
                <a:solidFill>
                  <a:srgbClr val="19191E"/>
                </a:solidFill>
                <a:latin typeface="Aptos"/>
              </a:defRPr>
            </a:pPr>
            <a:r>
              <a:rPr sz="1200" dirty="0">
                <a:solidFill>
                  <a:srgbClr val="202B3F"/>
                </a:solidFill>
              </a:rPr>
              <a:t>• Python backend already performs thermal calculations and exposes API routes.</a:t>
            </a:r>
          </a:p>
          <a:p>
            <a:pPr>
              <a:spcAft>
                <a:spcPts val="400"/>
              </a:spcAft>
              <a:defRPr sz="1060">
                <a:solidFill>
                  <a:srgbClr val="19191E"/>
                </a:solidFill>
                <a:latin typeface="Aptos"/>
              </a:defRPr>
            </a:pPr>
            <a:r>
              <a:rPr sz="1200" dirty="0">
                <a:solidFill>
                  <a:srgbClr val="202B3F"/>
                </a:solidFill>
              </a:rPr>
              <a:t>• Material library supports multiple envelope options for comparison.</a:t>
            </a:r>
          </a:p>
          <a:p>
            <a:pPr>
              <a:spcAft>
                <a:spcPts val="400"/>
              </a:spcAft>
              <a:defRPr sz="1060">
                <a:solidFill>
                  <a:srgbClr val="19191E"/>
                </a:solidFill>
                <a:latin typeface="Aptos"/>
              </a:defRPr>
            </a:pPr>
            <a:r>
              <a:rPr sz="1200" dirty="0">
                <a:solidFill>
                  <a:srgbClr val="202B3F"/>
                </a:solidFill>
              </a:rPr>
              <a:t>• Chart.js and Three.js already provide result visualization and 3D interaction.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950208"/>
            <a:ext cx="30632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80" b="1">
                <a:solidFill>
                  <a:srgbClr val="234D7D"/>
                </a:solidFill>
                <a:latin typeface="Aptos"/>
              </a:rPr>
              <a:t>Next validation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242816"/>
            <a:ext cx="3017520" cy="106285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19191E"/>
                </a:solidFill>
                <a:latin typeface="Aptos"/>
              </a:defRPr>
            </a:pPr>
            <a:r>
              <a:rPr sz="1200" dirty="0">
                <a:solidFill>
                  <a:srgbClr val="202B3F"/>
                </a:solidFill>
              </a:rPr>
              <a:t>• Create an ANSYS reference geometry.</a:t>
            </a:r>
          </a:p>
          <a:p>
            <a:pPr>
              <a:spcAft>
                <a:spcPts val="400"/>
              </a:spcAft>
              <a:defRPr sz="1060">
                <a:solidFill>
                  <a:srgbClr val="19191E"/>
                </a:solidFill>
                <a:latin typeface="Aptos"/>
              </a:defRPr>
            </a:pPr>
            <a:r>
              <a:rPr sz="1200" dirty="0">
                <a:solidFill>
                  <a:srgbClr val="202B3F"/>
                </a:solidFill>
              </a:rPr>
              <a:t>• Match the same ambient conditions and material properties.</a:t>
            </a:r>
          </a:p>
          <a:p>
            <a:pPr>
              <a:spcAft>
                <a:spcPts val="400"/>
              </a:spcAft>
              <a:defRPr sz="1060">
                <a:solidFill>
                  <a:srgbClr val="19191E"/>
                </a:solidFill>
                <a:latin typeface="Aptos"/>
              </a:defRPr>
            </a:pPr>
            <a:r>
              <a:rPr sz="1200" dirty="0">
                <a:solidFill>
                  <a:srgbClr val="202B3F"/>
                </a:solidFill>
              </a:rPr>
              <a:t>• Compare ANSYS temperature/heat-flux results with the fast Python model.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1673352"/>
            <a:ext cx="30632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80" b="1">
                <a:solidFill>
                  <a:srgbClr val="234D7D"/>
                </a:solidFill>
                <a:latin typeface="Aptos"/>
              </a:rPr>
              <a:t>Why it is viable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1965960"/>
            <a:ext cx="3017520" cy="166814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19191E"/>
                </a:solidFill>
                <a:latin typeface="Aptos"/>
              </a:defRPr>
            </a:pPr>
            <a:r>
              <a:rPr sz="1200" dirty="0">
                <a:solidFill>
                  <a:srgbClr val="202B3F"/>
                </a:solidFill>
              </a:rPr>
              <a:t>• Most inputs are numeric and can be entered through a simple form.</a:t>
            </a:r>
          </a:p>
          <a:p>
            <a:pPr>
              <a:spcAft>
                <a:spcPts val="400"/>
              </a:spcAft>
              <a:defRPr sz="1060">
                <a:solidFill>
                  <a:srgbClr val="19191E"/>
                </a:solidFill>
                <a:latin typeface="Aptos"/>
              </a:defRPr>
            </a:pPr>
            <a:r>
              <a:rPr sz="1200" dirty="0">
                <a:solidFill>
                  <a:srgbClr val="202B3F"/>
                </a:solidFill>
              </a:rPr>
              <a:t>• The fast model can screen many designs before expensive simulation.</a:t>
            </a:r>
          </a:p>
          <a:p>
            <a:pPr>
              <a:spcAft>
                <a:spcPts val="400"/>
              </a:spcAft>
              <a:defRPr sz="1060">
                <a:solidFill>
                  <a:srgbClr val="19191E"/>
                </a:solidFill>
                <a:latin typeface="Aptos"/>
              </a:defRPr>
            </a:pPr>
            <a:r>
              <a:rPr sz="1200" dirty="0">
                <a:solidFill>
                  <a:srgbClr val="202B3F"/>
                </a:solidFill>
              </a:rPr>
              <a:t>• The system can work with historical data first and live sensors later.</a:t>
            </a:r>
          </a:p>
          <a:p>
            <a:pPr>
              <a:spcAft>
                <a:spcPts val="400"/>
              </a:spcAft>
              <a:defRPr sz="1060">
                <a:solidFill>
                  <a:srgbClr val="19191E"/>
                </a:solidFill>
                <a:latin typeface="Aptos"/>
              </a:defRPr>
            </a:pPr>
            <a:r>
              <a:rPr sz="1200" dirty="0">
                <a:solidFill>
                  <a:srgbClr val="202B3F"/>
                </a:solidFill>
              </a:rPr>
              <a:t>• The architecture can be reused for other climatic regions.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3950208"/>
            <a:ext cx="30632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80" b="1">
                <a:solidFill>
                  <a:srgbClr val="234D7D"/>
                </a:solidFill>
                <a:latin typeface="Aptos"/>
              </a:rPr>
              <a:t>Practical 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4242816"/>
            <a:ext cx="3017520" cy="12475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19191E"/>
                </a:solidFill>
                <a:latin typeface="Aptos"/>
              </a:defRPr>
            </a:pPr>
            <a:r>
              <a:rPr sz="1200" dirty="0">
                <a:solidFill>
                  <a:srgbClr val="202B3F"/>
                </a:solidFill>
              </a:rPr>
              <a:t>• Local cached weather data keeps the application usable with weak internet.</a:t>
            </a:r>
          </a:p>
          <a:p>
            <a:pPr>
              <a:spcAft>
                <a:spcPts val="400"/>
              </a:spcAft>
              <a:defRPr sz="1060">
                <a:solidFill>
                  <a:srgbClr val="19191E"/>
                </a:solidFill>
                <a:latin typeface="Aptos"/>
              </a:defRPr>
            </a:pPr>
            <a:r>
              <a:rPr sz="1200" dirty="0">
                <a:solidFill>
                  <a:srgbClr val="202B3F"/>
                </a:solidFill>
              </a:rPr>
              <a:t>• Sensor correction can reduce the gap between satellite data and site reality.</a:t>
            </a:r>
          </a:p>
          <a:p>
            <a:pPr>
              <a:spcAft>
                <a:spcPts val="400"/>
              </a:spcAft>
              <a:defRPr sz="1060">
                <a:solidFill>
                  <a:srgbClr val="19191E"/>
                </a:solidFill>
                <a:latin typeface="Aptos"/>
              </a:defRPr>
            </a:pPr>
            <a:r>
              <a:rPr sz="1200" dirty="0">
                <a:solidFill>
                  <a:srgbClr val="202B3F"/>
                </a:solidFill>
              </a:rPr>
              <a:t>• Saved simulation cases make material/design comparison repeatable.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5008" y="1673352"/>
            <a:ext cx="30632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80" b="1">
                <a:solidFill>
                  <a:srgbClr val="234D7D"/>
                </a:solidFill>
                <a:latin typeface="Aptos"/>
              </a:rPr>
              <a:t>Main risks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8" y="1965960"/>
            <a:ext cx="3017520" cy="166814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19191E"/>
                </a:solidFill>
                <a:latin typeface="Aptos"/>
              </a:defRPr>
            </a:pPr>
            <a:r>
              <a:rPr sz="1200" dirty="0">
                <a:solidFill>
                  <a:srgbClr val="202B3F"/>
                </a:solidFill>
              </a:rPr>
              <a:t>• Real shelters have infiltration, thermal bridges and workmanship effects.</a:t>
            </a:r>
          </a:p>
          <a:p>
            <a:pPr>
              <a:spcAft>
                <a:spcPts val="400"/>
              </a:spcAft>
              <a:defRPr sz="1060">
                <a:solidFill>
                  <a:srgbClr val="19191E"/>
                </a:solidFill>
                <a:latin typeface="Aptos"/>
              </a:defRPr>
            </a:pPr>
            <a:r>
              <a:rPr sz="1200" dirty="0">
                <a:solidFill>
                  <a:srgbClr val="202B3F"/>
                </a:solidFill>
              </a:rPr>
              <a:t>• Material properties can vary with moisture and temperature.</a:t>
            </a:r>
          </a:p>
          <a:p>
            <a:pPr>
              <a:spcAft>
                <a:spcPts val="400"/>
              </a:spcAft>
              <a:defRPr sz="1060">
                <a:solidFill>
                  <a:srgbClr val="19191E"/>
                </a:solidFill>
                <a:latin typeface="Aptos"/>
              </a:defRPr>
            </a:pPr>
            <a:r>
              <a:rPr sz="1200" dirty="0">
                <a:solidFill>
                  <a:srgbClr val="202B3F"/>
                </a:solidFill>
              </a:rPr>
              <a:t>• ANSYS accuracy depends on geometry, mesh and boundary conditions.</a:t>
            </a:r>
          </a:p>
          <a:p>
            <a:pPr>
              <a:spcAft>
                <a:spcPts val="400"/>
              </a:spcAft>
              <a:defRPr sz="1060">
                <a:solidFill>
                  <a:srgbClr val="19191E"/>
                </a:solidFill>
                <a:latin typeface="Aptos"/>
              </a:defRPr>
            </a:pPr>
            <a:r>
              <a:rPr sz="1200" dirty="0">
                <a:solidFill>
                  <a:srgbClr val="202B3F"/>
                </a:solidFill>
              </a:rPr>
              <a:t>• A single weather point cannot represent every Ladakh micro-climate.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3809041"/>
            <a:ext cx="30632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80" b="1" dirty="0">
                <a:solidFill>
                  <a:srgbClr val="234D7D"/>
                </a:solidFill>
                <a:latin typeface="Aptos"/>
              </a:rPr>
              <a:t>How we mitigate them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37576" y="4124542"/>
            <a:ext cx="3017520" cy="166814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19191E"/>
                </a:solidFill>
                <a:latin typeface="Aptos"/>
              </a:defRPr>
            </a:pPr>
            <a:r>
              <a:rPr sz="1200" dirty="0">
                <a:solidFill>
                  <a:srgbClr val="202B3F"/>
                </a:solidFill>
              </a:rPr>
              <a:t>• Sensitivity analysis across material k, thickness and opening area.</a:t>
            </a:r>
          </a:p>
          <a:p>
            <a:pPr>
              <a:spcAft>
                <a:spcPts val="400"/>
              </a:spcAft>
              <a:defRPr sz="1060">
                <a:solidFill>
                  <a:srgbClr val="19191E"/>
                </a:solidFill>
                <a:latin typeface="Aptos"/>
              </a:defRPr>
            </a:pPr>
            <a:r>
              <a:rPr sz="1200" dirty="0">
                <a:solidFill>
                  <a:srgbClr val="202B3F"/>
                </a:solidFill>
              </a:rPr>
              <a:t>• Field calibration when sensor data becomes available.</a:t>
            </a:r>
          </a:p>
          <a:p>
            <a:pPr>
              <a:spcAft>
                <a:spcPts val="400"/>
              </a:spcAft>
              <a:defRPr sz="1060">
                <a:solidFill>
                  <a:srgbClr val="19191E"/>
                </a:solidFill>
                <a:latin typeface="Aptos"/>
              </a:defRPr>
            </a:pPr>
            <a:r>
              <a:rPr sz="1200" dirty="0">
                <a:solidFill>
                  <a:srgbClr val="202B3F"/>
                </a:solidFill>
              </a:rPr>
              <a:t>• Human-in-the-loop review of shortlisted designs.</a:t>
            </a:r>
          </a:p>
          <a:p>
            <a:pPr>
              <a:spcAft>
                <a:spcPts val="400"/>
              </a:spcAft>
              <a:defRPr sz="1060">
                <a:solidFill>
                  <a:srgbClr val="19191E"/>
                </a:solidFill>
                <a:latin typeface="Aptos"/>
              </a:defRPr>
            </a:pPr>
            <a:r>
              <a:rPr sz="1200" dirty="0">
                <a:solidFill>
                  <a:srgbClr val="202B3F"/>
                </a:solidFill>
              </a:rPr>
              <a:t>• Report uncertainty instead of presenting one number as absolute truth.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6007608"/>
            <a:ext cx="1101852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" y="6062472"/>
            <a:ext cx="15544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234D7D"/>
                </a:solidFill>
                <a:latin typeface="Aptos"/>
              </a:rPr>
              <a:t>FEASIBILITY SCORECARD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6044184"/>
            <a:ext cx="128016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780" b="0">
                <a:solidFill>
                  <a:srgbClr val="5C5E68"/>
                </a:solidFill>
                <a:latin typeface="Aptos"/>
              </a:rPr>
              <a:t>Software prototype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7015" y="6044184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780" b="1">
                <a:solidFill>
                  <a:srgbClr val="40BE7F"/>
                </a:solidFill>
                <a:latin typeface="Aptos"/>
              </a:rPr>
              <a:t>READY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6044184"/>
            <a:ext cx="128016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780" b="0">
                <a:solidFill>
                  <a:srgbClr val="5C5E68"/>
                </a:solidFill>
                <a:latin typeface="Aptos"/>
              </a:rPr>
              <a:t>Weather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85816" y="6044184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780" b="1">
                <a:solidFill>
                  <a:srgbClr val="2F9DD3"/>
                </a:solidFill>
                <a:latin typeface="Aptos"/>
              </a:rPr>
              <a:t>READY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6044184"/>
            <a:ext cx="128016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780" b="0">
                <a:solidFill>
                  <a:srgbClr val="5C5E68"/>
                </a:solidFill>
                <a:latin typeface="Aptos"/>
              </a:rPr>
              <a:t>Material comparison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4616" y="6044184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780" b="1">
                <a:solidFill>
                  <a:srgbClr val="7E5BB2"/>
                </a:solidFill>
                <a:latin typeface="Aptos"/>
              </a:rPr>
              <a:t>READY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6044184"/>
            <a:ext cx="128016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780" b="0">
                <a:solidFill>
                  <a:srgbClr val="5C5E68"/>
                </a:solidFill>
                <a:latin typeface="Aptos"/>
              </a:rPr>
              <a:t>ANSYS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43416" y="6044184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780" b="1">
                <a:solidFill>
                  <a:srgbClr val="EB8B3D"/>
                </a:solidFill>
                <a:latin typeface="Aptos"/>
              </a:rPr>
              <a:t>NEXT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20" y="6044184"/>
            <a:ext cx="128016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780" b="0">
                <a:solidFill>
                  <a:srgbClr val="5C5E68"/>
                </a:solidFill>
                <a:latin typeface="Aptos"/>
              </a:rPr>
              <a:t>Live sensors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72216" y="6044184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780" b="1">
                <a:solidFill>
                  <a:srgbClr val="DC5CAB"/>
                </a:solidFill>
                <a:latin typeface="Aptos"/>
              </a:rPr>
              <a:t>FUTURE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" y="9144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000000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15807" y="546932"/>
            <a:ext cx="5945859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 dirty="0">
                <a:solidFill>
                  <a:schemeClr val="tx2"/>
                </a:solidFill>
                <a:latin typeface="Arial"/>
              </a:rPr>
              <a:t>Why the solution is practical — and how we will control technical and deployment risk</a:t>
            </a:r>
          </a:p>
        </p:txBody>
      </p:sp>
      <p:sp>
        <p:nvSpPr>
          <p:cNvPr id="40" name="Oval 39"/>
          <p:cNvSpPr/>
          <p:nvPr/>
        </p:nvSpPr>
        <p:spPr>
          <a:xfrm>
            <a:off x="288036" y="64008"/>
            <a:ext cx="1252728" cy="804672"/>
          </a:xfrm>
          <a:prstGeom prst="ellipse">
            <a:avLst/>
          </a:prstGeom>
          <a:noFill/>
          <a:ln w="19050">
            <a:solidFill>
              <a:srgbClr val="84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dirty="0">
                <a:solidFill>
                  <a:srgbClr val="202B3F"/>
                </a:solidFill>
                <a:latin typeface="Arial"/>
              </a:rPr>
              <a:t>A</a:t>
            </a:r>
            <a:r>
              <a:rPr lang="en-US" sz="1500" dirty="0">
                <a:solidFill>
                  <a:srgbClr val="202B3F"/>
                </a:solidFill>
                <a:latin typeface="Arial"/>
              </a:rPr>
              <a:t>SPIRE</a:t>
            </a:r>
            <a:endParaRPr sz="1500" dirty="0">
              <a:solidFill>
                <a:srgbClr val="202B3F"/>
              </a:solidFill>
              <a:latin typeface="Arial"/>
            </a:endParaRP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7226" y="0"/>
            <a:ext cx="1906278" cy="898895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45152" y="6452881"/>
            <a:ext cx="3200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 dirty="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84280" y="6452881"/>
            <a:ext cx="3657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384048" y="987552"/>
            <a:ext cx="6446520" cy="5303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5925312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234D7D"/>
                </a:solidFill>
                <a:latin typeface="Aptos"/>
              </a:rPr>
              <a:t>Prototype thermal response</a:t>
            </a:r>
          </a:p>
        </p:txBody>
      </p:sp>
      <p:pic>
        <p:nvPicPr>
          <p:cNvPr id="7" name="Picture 6" descr="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54480"/>
            <a:ext cx="5897880" cy="23957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" y="4087368"/>
            <a:ext cx="5596128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 dirty="0">
                <a:solidFill>
                  <a:schemeClr val="tx2">
                    <a:lumMod val="75000"/>
                  </a:schemeClr>
                </a:solidFill>
                <a:latin typeface="Aptos"/>
              </a:rPr>
              <a:t>Illustrative run using the supplied Ladakh weather data. The fast model is intended for screening; ANSYS and field measurements provide validation.</a:t>
            </a:r>
          </a:p>
        </p:txBody>
      </p:sp>
      <p:pic>
        <p:nvPicPr>
          <p:cNvPr id="9" name="Picture 8" descr="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4617720"/>
            <a:ext cx="5833872" cy="133502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059168" y="987552"/>
            <a:ext cx="4754880" cy="5303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0" y="1188720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234D7D"/>
                </a:solidFill>
                <a:latin typeface="Aptos"/>
              </a:rPr>
              <a:t>Key benefits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664208"/>
            <a:ext cx="4224528" cy="713232"/>
          </a:xfrm>
          <a:prstGeom prst="roundRect">
            <a:avLst/>
          </a:prstGeom>
          <a:solidFill>
            <a:srgbClr val="EDF9EF"/>
          </a:solidFill>
          <a:ln w="10160">
            <a:solidFill>
              <a:srgbClr val="40B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70648" y="1764792"/>
            <a:ext cx="694944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dirty="0">
                <a:solidFill>
                  <a:srgbClr val="40BE7F"/>
                </a:solidFill>
                <a:latin typeface="Aptos"/>
              </a:rPr>
              <a:t>Energy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746504"/>
            <a:ext cx="3154680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dirty="0">
                <a:solidFill>
                  <a:srgbClr val="19191E"/>
                </a:solidFill>
                <a:latin typeface="Aptos"/>
              </a:rPr>
              <a:t>Less dependence on active heating through better passive design.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496312"/>
            <a:ext cx="4224528" cy="713232"/>
          </a:xfrm>
          <a:prstGeom prst="roundRect">
            <a:avLst/>
          </a:prstGeom>
          <a:solidFill>
            <a:srgbClr val="EBF8FD"/>
          </a:solidFill>
          <a:ln w="10160">
            <a:solidFill>
              <a:srgbClr val="2F9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70648" y="2596896"/>
            <a:ext cx="694944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dirty="0">
                <a:solidFill>
                  <a:srgbClr val="2F9DD3"/>
                </a:solidFill>
                <a:latin typeface="Aptos"/>
              </a:rPr>
              <a:t>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578608"/>
            <a:ext cx="3154680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dirty="0">
                <a:solidFill>
                  <a:srgbClr val="19191E"/>
                </a:solidFill>
                <a:latin typeface="Aptos"/>
              </a:rPr>
              <a:t>Compare material, thickness, glazing and orientation before construction.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3328416"/>
            <a:ext cx="4224528" cy="713232"/>
          </a:xfrm>
          <a:prstGeom prst="roundRect">
            <a:avLst/>
          </a:prstGeom>
          <a:solidFill>
            <a:srgbClr val="FFFBE5"/>
          </a:solidFill>
          <a:ln w="10160">
            <a:solidFill>
              <a:srgbClr val="EFC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70648" y="3429000"/>
            <a:ext cx="694944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en-IN" sz="1400" b="1" dirty="0">
                <a:solidFill>
                  <a:srgbClr val="EFC62B"/>
                </a:solidFill>
                <a:latin typeface="Aptos"/>
              </a:rPr>
              <a:t>Cost</a:t>
            </a:r>
            <a:endParaRPr sz="1400" b="1" dirty="0">
              <a:solidFill>
                <a:srgbClr val="EFC62B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02168" y="3410712"/>
            <a:ext cx="315468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dirty="0">
                <a:solidFill>
                  <a:srgbClr val="19191E"/>
                </a:solidFill>
                <a:latin typeface="Aptos"/>
              </a:rPr>
              <a:t>Reduce trial-and-error physical prototyping.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160520"/>
            <a:ext cx="4224528" cy="713232"/>
          </a:xfrm>
          <a:prstGeom prst="roundRect">
            <a:avLst/>
          </a:prstGeom>
          <a:solidFill>
            <a:srgbClr val="FDF2E9"/>
          </a:solidFill>
          <a:ln w="10160">
            <a:solidFill>
              <a:srgbClr val="EB8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06640" y="4261104"/>
            <a:ext cx="795528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dirty="0">
                <a:solidFill>
                  <a:srgbClr val="EB8B3D"/>
                </a:solidFill>
                <a:latin typeface="Aptos"/>
              </a:rPr>
              <a:t>Field</a:t>
            </a:r>
            <a:r>
              <a:rPr lang="en-US" sz="1400" b="1" dirty="0">
                <a:solidFill>
                  <a:srgbClr val="EB8B3D"/>
                </a:solidFill>
                <a:latin typeface="Aptos"/>
              </a:rPr>
              <a:t> </a:t>
            </a:r>
            <a:r>
              <a:rPr sz="1400" b="1" dirty="0">
                <a:solidFill>
                  <a:srgbClr val="EB8B3D"/>
                </a:solidFill>
                <a:latin typeface="Aptos"/>
              </a:rPr>
              <a:t>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3027" y="4288034"/>
            <a:ext cx="3154680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dirty="0">
                <a:solidFill>
                  <a:srgbClr val="19191E"/>
                </a:solidFill>
                <a:latin typeface="Aptos"/>
              </a:rPr>
              <a:t>Accept local sensor readings and calibrate the model.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4992624"/>
            <a:ext cx="4224528" cy="713232"/>
          </a:xfrm>
          <a:prstGeom prst="roundRect">
            <a:avLst/>
          </a:prstGeom>
          <a:solidFill>
            <a:srgbClr val="FDF0F9"/>
          </a:solidFill>
          <a:ln w="10160">
            <a:solidFill>
              <a:srgbClr val="DC5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70648" y="5093208"/>
            <a:ext cx="694944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dirty="0">
                <a:solidFill>
                  <a:srgbClr val="DC5CAB"/>
                </a:solidFill>
                <a:latin typeface="Aptos"/>
              </a:rPr>
              <a:t>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2168" y="5074920"/>
            <a:ext cx="3154680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dirty="0">
                <a:solidFill>
                  <a:srgbClr val="19191E"/>
                </a:solidFill>
                <a:latin typeface="Aptos"/>
              </a:rPr>
              <a:t>Adapt the same framework to other climatic regions.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5797296"/>
            <a:ext cx="4224528" cy="365760"/>
          </a:xfrm>
          <a:prstGeom prst="roundRect">
            <a:avLst/>
          </a:prstGeom>
          <a:solidFill>
            <a:srgbClr val="F8F4FD"/>
          </a:solidFill>
          <a:ln w="10160">
            <a:solidFill>
              <a:srgbClr val="7E5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06640" y="5870448"/>
            <a:ext cx="4041648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50" b="1">
                <a:solidFill>
                  <a:srgbClr val="22304B"/>
                </a:solidFill>
                <a:latin typeface="Aptos"/>
              </a:rPr>
              <a:t>SUCCESS = more time in comfort band + less active energy demand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2110" y="55806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000000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8493" y="664723"/>
            <a:ext cx="4384534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 dirty="0">
                <a:solidFill>
                  <a:schemeClr val="tx2"/>
                </a:solidFill>
                <a:latin typeface="Arial"/>
              </a:rPr>
              <a:t>Turn simulation results into a practical shelter-design decision</a:t>
            </a:r>
          </a:p>
        </p:txBody>
      </p:sp>
      <p:sp>
        <p:nvSpPr>
          <p:cNvPr id="31" name="Oval 30"/>
          <p:cNvSpPr/>
          <p:nvPr/>
        </p:nvSpPr>
        <p:spPr>
          <a:xfrm>
            <a:off x="329184" y="55806"/>
            <a:ext cx="1252728" cy="804672"/>
          </a:xfrm>
          <a:prstGeom prst="ellipse">
            <a:avLst/>
          </a:prstGeom>
          <a:noFill/>
          <a:ln w="19050">
            <a:solidFill>
              <a:srgbClr val="84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dirty="0">
                <a:solidFill>
                  <a:srgbClr val="202B3F"/>
                </a:solidFill>
                <a:latin typeface="Arial"/>
              </a:rPr>
              <a:t>A</a:t>
            </a:r>
            <a:r>
              <a:rPr lang="en-US" sz="1500" dirty="0">
                <a:solidFill>
                  <a:srgbClr val="202B3F"/>
                </a:solidFill>
                <a:latin typeface="Arial"/>
              </a:rPr>
              <a:t>SPIRE</a:t>
            </a:r>
            <a:endParaRPr sz="1500" dirty="0">
              <a:solidFill>
                <a:srgbClr val="202B3F"/>
              </a:solidFill>
              <a:latin typeface="Arial"/>
            </a:endParaRP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4876" y="0"/>
            <a:ext cx="1768627" cy="833987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45152" y="6464808"/>
            <a:ext cx="3200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 dirty="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84280" y="6437376"/>
            <a:ext cx="3657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423669" y="1050871"/>
            <a:ext cx="7034981" cy="69688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3EB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7220" y="1307592"/>
            <a:ext cx="2057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lnSpcReduction="10000"/>
          </a:bodyPr>
          <a:lstStyle/>
          <a:p>
            <a:pPr algn="l"/>
            <a:r>
              <a:rPr sz="1250" b="1" dirty="0">
                <a:solidFill>
                  <a:srgbClr val="3EBEDD"/>
                </a:solidFill>
                <a:latin typeface="Aptos"/>
              </a:rPr>
              <a:t>NASA 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21747" y="1176000"/>
            <a:ext cx="48920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200" b="0" dirty="0">
                <a:solidFill>
                  <a:srgbClr val="19191E"/>
                </a:solidFill>
                <a:latin typeface="Aptos"/>
              </a:rPr>
              <a:t>Hourly solar and meteorological data for the selected location.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4747" y="1462672"/>
            <a:ext cx="48920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000" b="0" dirty="0">
                <a:solidFill>
                  <a:srgbClr val="5C5E68"/>
                </a:solidFill>
                <a:latin typeface="Aptos"/>
                <a:hlinkClick r:id="rId2"/>
              </a:rPr>
              <a:t>https://power.larc.nasa.gov/docs/services/api/temporal/hourly/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3669" y="1874768"/>
            <a:ext cx="7030406" cy="69688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E5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131116"/>
            <a:ext cx="2057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lnSpcReduction="10000"/>
          </a:bodyPr>
          <a:lstStyle/>
          <a:p>
            <a:pPr algn="l"/>
            <a:r>
              <a:rPr sz="1250" b="1" dirty="0">
                <a:solidFill>
                  <a:srgbClr val="7E5BB2"/>
                </a:solidFill>
                <a:latin typeface="Aptos"/>
              </a:rPr>
              <a:t>ANSYS Workbench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8887" y="1976661"/>
            <a:ext cx="4855188" cy="2867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200" b="0" dirty="0">
                <a:solidFill>
                  <a:srgbClr val="19191E"/>
                </a:solidFill>
                <a:latin typeface="Aptos"/>
              </a:rPr>
              <a:t>Thermal simulation and engineering workflow for high-fidelity validation.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1747" y="2263432"/>
            <a:ext cx="48920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000" b="0" dirty="0">
                <a:solidFill>
                  <a:srgbClr val="5C5E68"/>
                </a:solidFill>
                <a:latin typeface="Aptos"/>
                <a:hlinkClick r:id="rId3"/>
              </a:rPr>
              <a:t>https://www.ansys.com/en-in/products/ansys-workbench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3672" y="2691679"/>
            <a:ext cx="7034981" cy="69494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0BE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1693" y="2842799"/>
            <a:ext cx="2108454" cy="2843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r>
              <a:rPr lang="en-IN" sz="1200" b="1" dirty="0">
                <a:solidFill>
                  <a:srgbClr val="40BE7F"/>
                </a:solidFill>
                <a:latin typeface="Aptos"/>
              </a:rPr>
              <a:t>Leh Climatological Data (2011–2024)</a:t>
            </a:r>
            <a:endParaRPr sz="1200" b="1" dirty="0">
              <a:solidFill>
                <a:srgbClr val="40BE7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80461" y="2774100"/>
            <a:ext cx="48920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lang="en-US" sz="1200" b="0" dirty="0">
                <a:solidFill>
                  <a:srgbClr val="19191E"/>
                </a:solidFill>
                <a:latin typeface="Aptos"/>
              </a:rPr>
              <a:t> Regional temperature and weather records.</a:t>
            </a:r>
            <a:endParaRPr sz="1200" b="0" dirty="0">
              <a:solidFill>
                <a:srgbClr val="19191E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10756" y="2986555"/>
            <a:ext cx="4974048" cy="3142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lang="en-IN" sz="900" b="0" dirty="0">
                <a:solidFill>
                  <a:srgbClr val="5C5E68"/>
                </a:solidFill>
                <a:latin typeface="Aptos"/>
                <a:hlinkClick r:id="rId4"/>
              </a:rPr>
              <a:t>chrome-extension://</a:t>
            </a:r>
            <a:r>
              <a:rPr lang="en-IN" sz="900" b="0" dirty="0" err="1">
                <a:solidFill>
                  <a:srgbClr val="5C5E68"/>
                </a:solidFill>
                <a:latin typeface="Aptos"/>
                <a:hlinkClick r:id="rId4"/>
              </a:rPr>
              <a:t>efaidnbmnnnibpcajpcglclefindmkaj</a:t>
            </a:r>
            <a:r>
              <a:rPr lang="en-IN" sz="900" b="0" dirty="0">
                <a:solidFill>
                  <a:srgbClr val="5C5E68"/>
                </a:solidFill>
                <a:latin typeface="Aptos"/>
                <a:hlinkClick r:id="rId4"/>
              </a:rPr>
              <a:t>/https://mausam.imd.gov.in/leh/mcdata/City.pdf</a:t>
            </a:r>
            <a:endParaRPr sz="900" b="0" dirty="0">
              <a:solidFill>
                <a:srgbClr val="5C5E68"/>
              </a:solidFill>
              <a:latin typeface="Aptos"/>
              <a:hlinkClick r:id="rId5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28245" y="3512792"/>
            <a:ext cx="7034981" cy="70004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B8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1693" y="3769865"/>
            <a:ext cx="2057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lnSpcReduction="10000"/>
          </a:bodyPr>
          <a:lstStyle/>
          <a:p>
            <a:pPr algn="l"/>
            <a:r>
              <a:rPr sz="1250"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FHNW — PSH Ladakh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24747" y="3578578"/>
            <a:ext cx="48920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200" b="0" dirty="0">
                <a:solidFill>
                  <a:srgbClr val="19191E"/>
                </a:solidFill>
                <a:latin typeface="Aptos"/>
              </a:rPr>
              <a:t>Research project on passive-solar heated houses in Ladakh.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7449" y="4333967"/>
            <a:ext cx="7034981" cy="69377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5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98887" y="4625039"/>
            <a:ext cx="4263082" cy="2367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lang="en-IN" sz="900" b="0" dirty="0">
                <a:solidFill>
                  <a:srgbClr val="5C5E68"/>
                </a:solidFill>
                <a:latin typeface="Aptos"/>
                <a:hlinkClick r:id="rId6"/>
              </a:rPr>
              <a:t>https://www.researchgate.net/publication/279186605_Vernacular_Architecture_and_Climatic_Control_in_the_extreme_conditions_of_Ladakh_ASPIRE-2013</a:t>
            </a:r>
            <a:endParaRPr sz="900" b="0" dirty="0">
              <a:solidFill>
                <a:srgbClr val="5C5E68"/>
              </a:solidFill>
              <a:latin typeface="Aptos"/>
              <a:hlinkClick r:id="rId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8368" y="4892040"/>
            <a:ext cx="2057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lnSpcReduction="10000"/>
          </a:bodyPr>
          <a:lstStyle/>
          <a:p>
            <a:pPr algn="l"/>
            <a:endParaRPr sz="1250" b="1" dirty="0">
              <a:solidFill>
                <a:srgbClr val="DC5CAB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151875" y="1060704"/>
            <a:ext cx="3611880" cy="4590288"/>
          </a:xfrm>
          <a:prstGeom prst="roundRect">
            <a:avLst/>
          </a:prstGeom>
          <a:solidFill>
            <a:srgbClr val="F8F4FD"/>
          </a:solidFill>
          <a:ln w="10160">
            <a:solidFill>
              <a:srgbClr val="C4B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94192" y="1261872"/>
            <a:ext cx="3136392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 lnSpcReduction="20000"/>
          </a:bodyPr>
          <a:lstStyle/>
          <a:p>
            <a:pPr algn="ctr"/>
            <a:r>
              <a:rPr sz="1780" b="1">
                <a:solidFill>
                  <a:srgbClr val="234D7D"/>
                </a:solidFill>
                <a:latin typeface="Aptos"/>
              </a:rPr>
              <a:t>What we will demonstrate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1755648"/>
            <a:ext cx="3017520" cy="260604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600"/>
              </a:spcAft>
              <a:defRPr sz="1080">
                <a:solidFill>
                  <a:srgbClr val="19191E"/>
                </a:solidFill>
                <a:latin typeface="Aptos"/>
              </a:defRPr>
            </a:pPr>
            <a:r>
              <a:rPr dirty="0">
                <a:solidFill>
                  <a:srgbClr val="202B3F"/>
                </a:solidFill>
              </a:rPr>
              <a:t>• User changes shelter geometry and materials.</a:t>
            </a:r>
          </a:p>
          <a:p>
            <a:pPr>
              <a:spcAft>
                <a:spcPts val="600"/>
              </a:spcAft>
              <a:defRPr sz="1080">
                <a:solidFill>
                  <a:srgbClr val="19191E"/>
                </a:solidFill>
                <a:latin typeface="Aptos"/>
              </a:defRPr>
            </a:pPr>
            <a:r>
              <a:rPr dirty="0">
                <a:solidFill>
                  <a:srgbClr val="202B3F"/>
                </a:solidFill>
              </a:rPr>
              <a:t>• Hourly climate data enters the model.</a:t>
            </a:r>
          </a:p>
          <a:p>
            <a:pPr>
              <a:spcAft>
                <a:spcPts val="600"/>
              </a:spcAft>
              <a:defRPr sz="1080">
                <a:solidFill>
                  <a:srgbClr val="19191E"/>
                </a:solidFill>
                <a:latin typeface="Aptos"/>
              </a:defRPr>
            </a:pPr>
            <a:r>
              <a:rPr dirty="0">
                <a:solidFill>
                  <a:srgbClr val="202B3F"/>
                </a:solidFill>
              </a:rPr>
              <a:t>• Python rapidly screens candidate designs.</a:t>
            </a:r>
          </a:p>
          <a:p>
            <a:pPr>
              <a:spcAft>
                <a:spcPts val="600"/>
              </a:spcAft>
              <a:defRPr sz="1080">
                <a:solidFill>
                  <a:srgbClr val="19191E"/>
                </a:solidFill>
                <a:latin typeface="Aptos"/>
              </a:defRPr>
            </a:pPr>
            <a:r>
              <a:rPr dirty="0">
                <a:solidFill>
                  <a:srgbClr val="202B3F"/>
                </a:solidFill>
              </a:rPr>
              <a:t>• ANSYS validates the shortlisted geometry.</a:t>
            </a:r>
          </a:p>
          <a:p>
            <a:pPr>
              <a:spcAft>
                <a:spcPts val="600"/>
              </a:spcAft>
              <a:defRPr sz="1080">
                <a:solidFill>
                  <a:srgbClr val="19191E"/>
                </a:solidFill>
                <a:latin typeface="Aptos"/>
              </a:defRPr>
            </a:pPr>
            <a:r>
              <a:rPr dirty="0">
                <a:solidFill>
                  <a:srgbClr val="202B3F"/>
                </a:solidFill>
              </a:rPr>
              <a:t>• Graphs show indoor temperature, solar gain and heat flow.</a:t>
            </a:r>
          </a:p>
          <a:p>
            <a:pPr>
              <a:spcAft>
                <a:spcPts val="600"/>
              </a:spcAft>
              <a:defRPr sz="1080">
                <a:solidFill>
                  <a:srgbClr val="19191E"/>
                </a:solidFill>
                <a:latin typeface="Aptos"/>
              </a:defRPr>
            </a:pPr>
            <a:r>
              <a:rPr dirty="0">
                <a:solidFill>
                  <a:srgbClr val="202B3F"/>
                </a:solidFill>
              </a:rPr>
              <a:t>• The system ranks designs against thermal-comfort targets.</a:t>
            </a:r>
          </a:p>
          <a:p>
            <a:pPr>
              <a:spcAft>
                <a:spcPts val="600"/>
              </a:spcAft>
              <a:defRPr sz="1080">
                <a:solidFill>
                  <a:srgbClr val="19191E"/>
                </a:solidFill>
                <a:latin typeface="Aptos"/>
              </a:defRPr>
            </a:pPr>
            <a:r>
              <a:rPr dirty="0">
                <a:solidFill>
                  <a:srgbClr val="202B3F"/>
                </a:solidFill>
              </a:rPr>
              <a:t>• Future sensor integration makes the model site-specific.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94192" y="4599432"/>
            <a:ext cx="3127248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E5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22208" y="4718304"/>
            <a:ext cx="2871216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85000" lnSpcReduction="20000"/>
          </a:bodyPr>
          <a:lstStyle/>
          <a:p>
            <a:pPr algn="ctr"/>
            <a:r>
              <a:rPr sz="1440" b="1">
                <a:solidFill>
                  <a:srgbClr val="234D7D"/>
                </a:solidFill>
                <a:latin typeface="Aptos"/>
              </a:rPr>
              <a:t>THERMAL LADAKH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208" y="5010912"/>
            <a:ext cx="2871216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/>
            <a:r>
              <a:rPr sz="1000" b="1" dirty="0">
                <a:solidFill>
                  <a:srgbClr val="5C5E68"/>
                </a:solidFill>
                <a:latin typeface="Aptos"/>
              </a:rPr>
              <a:t>Passive-first • data-driven • region-specific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7449" y="6051240"/>
            <a:ext cx="1097280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870" b="0" dirty="0">
                <a:solidFill>
                  <a:srgbClr val="5C5E68"/>
                </a:solidFill>
                <a:latin typeface="Aptos"/>
              </a:rPr>
              <a:t>External references are linked above</a:t>
            </a:r>
            <a:r>
              <a:rPr lang="en-US" sz="870" dirty="0">
                <a:solidFill>
                  <a:srgbClr val="5C5E68"/>
                </a:solidFill>
                <a:latin typeface="Aptos"/>
              </a:rPr>
              <a:t>.</a:t>
            </a:r>
            <a:endParaRPr sz="870" b="0" dirty="0">
              <a:solidFill>
                <a:srgbClr val="5C5E68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7200" y="73152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000000"/>
                </a:solidFill>
                <a:latin typeface="Times New Roman"/>
              </a:rPr>
              <a:t>Research &amp; Reference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52476" y="664723"/>
            <a:ext cx="5256568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 dirty="0">
                <a:solidFill>
                  <a:schemeClr val="tx2">
                    <a:lumMod val="75000"/>
                  </a:schemeClr>
                </a:solidFill>
                <a:latin typeface="Arial"/>
              </a:rPr>
              <a:t>Climate data, passive-solar research and engineering-simulation references</a:t>
            </a:r>
          </a:p>
        </p:txBody>
      </p:sp>
      <p:sp>
        <p:nvSpPr>
          <p:cNvPr id="34" name="Oval 33"/>
          <p:cNvSpPr/>
          <p:nvPr/>
        </p:nvSpPr>
        <p:spPr>
          <a:xfrm>
            <a:off x="288036" y="77724"/>
            <a:ext cx="1252728" cy="804672"/>
          </a:xfrm>
          <a:prstGeom prst="ellipse">
            <a:avLst/>
          </a:prstGeom>
          <a:noFill/>
          <a:ln w="19050">
            <a:solidFill>
              <a:srgbClr val="84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dirty="0">
                <a:solidFill>
                  <a:srgbClr val="202B3F"/>
                </a:solidFill>
                <a:latin typeface="Arial"/>
              </a:rPr>
              <a:t>A</a:t>
            </a:r>
            <a:r>
              <a:rPr lang="en-US" sz="1500" dirty="0">
                <a:solidFill>
                  <a:srgbClr val="202B3F"/>
                </a:solidFill>
                <a:latin typeface="Arial"/>
              </a:rPr>
              <a:t>SPIRE</a:t>
            </a:r>
            <a:endParaRPr sz="1500" dirty="0">
              <a:solidFill>
                <a:srgbClr val="202B3F"/>
              </a:solidFill>
              <a:latin typeface="Arial"/>
            </a:endParaRP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0076" y="0"/>
            <a:ext cx="2073427" cy="977714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45152" y="6417552"/>
            <a:ext cx="3200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84280" y="6454128"/>
            <a:ext cx="3657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Rounded Rectangle 49">
            <a:extLst>
              <a:ext uri="{FF2B5EF4-FFF2-40B4-BE49-F238E27FC236}">
                <a16:creationId xmlns:a16="http://schemas.microsoft.com/office/drawing/2014/main" id="{76DABF89-6538-262E-36D7-88D3F34CB219}"/>
              </a:ext>
            </a:extLst>
          </p:cNvPr>
          <p:cNvSpPr/>
          <p:nvPr/>
        </p:nvSpPr>
        <p:spPr>
          <a:xfrm>
            <a:off x="423672" y="5159846"/>
            <a:ext cx="7034981" cy="701458"/>
          </a:xfrm>
          <a:prstGeom prst="roundRect">
            <a:avLst/>
          </a:prstGeom>
          <a:solidFill>
            <a:schemeClr val="bg1"/>
          </a:solidFill>
          <a:ln w="10160">
            <a:solidFill>
              <a:srgbClr val="EFC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EDB3798-9995-3029-0B8E-687A1C9EDDFA}"/>
              </a:ext>
            </a:extLst>
          </p:cNvPr>
          <p:cNvSpPr txBox="1"/>
          <p:nvPr/>
        </p:nvSpPr>
        <p:spPr>
          <a:xfrm>
            <a:off x="594360" y="4593986"/>
            <a:ext cx="2057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lnSpcReduction="10000"/>
          </a:bodyPr>
          <a:lstStyle/>
          <a:p>
            <a:r>
              <a:rPr lang="en-IN" sz="1250" b="1" dirty="0">
                <a:solidFill>
                  <a:srgbClr val="DC5CAB"/>
                </a:solidFill>
                <a:latin typeface="Aptos"/>
              </a:rPr>
              <a:t>Khan (2013) </a:t>
            </a:r>
            <a:endParaRPr sz="1250" b="1" dirty="0">
              <a:solidFill>
                <a:srgbClr val="DC5CAB"/>
              </a:solidFill>
              <a:latin typeface="Apto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1D3E075-C03B-3F7F-9030-5B5BF6E1DEFF}"/>
              </a:ext>
            </a:extLst>
          </p:cNvPr>
          <p:cNvSpPr txBox="1"/>
          <p:nvPr/>
        </p:nvSpPr>
        <p:spPr>
          <a:xfrm>
            <a:off x="594360" y="5331494"/>
            <a:ext cx="2057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r>
              <a:rPr lang="en-IN" sz="1200" b="1" dirty="0">
                <a:solidFill>
                  <a:srgbClr val="EB8B3D"/>
                </a:solidFill>
                <a:latin typeface="Aptos"/>
              </a:rPr>
              <a:t>Mehta, Gajjar &amp; Bhavsar (2024)</a:t>
            </a:r>
            <a:endParaRPr sz="1200" b="1" dirty="0">
              <a:solidFill>
                <a:srgbClr val="EB8B3D"/>
              </a:solidFill>
              <a:latin typeface="Apto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BF282BB-9C98-3ADB-7D4A-9ABAA3EF63AA}"/>
              </a:ext>
            </a:extLst>
          </p:cNvPr>
          <p:cNvSpPr txBox="1"/>
          <p:nvPr/>
        </p:nvSpPr>
        <p:spPr>
          <a:xfrm>
            <a:off x="2606459" y="5285232"/>
            <a:ext cx="48920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r>
              <a:rPr lang="en-US" sz="1200" dirty="0">
                <a:solidFill>
                  <a:srgbClr val="19191E"/>
                </a:solidFill>
                <a:latin typeface="Aptos"/>
              </a:rPr>
              <a:t>Thermal Comfort in Vernacular Ladakhi Dwellings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25D1F8-7006-46AF-D944-2EED69716785}"/>
              </a:ext>
            </a:extLst>
          </p:cNvPr>
          <p:cNvSpPr txBox="1"/>
          <p:nvPr/>
        </p:nvSpPr>
        <p:spPr>
          <a:xfrm>
            <a:off x="2598887" y="4394429"/>
            <a:ext cx="48920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r>
              <a:rPr lang="en-US" sz="1200" dirty="0">
                <a:solidFill>
                  <a:srgbClr val="19191E"/>
                </a:solidFill>
                <a:latin typeface="Aptos"/>
              </a:rPr>
              <a:t>Vernacular Architecture &amp; Climatic Control in Ladakh</a:t>
            </a:r>
            <a:endParaRPr sz="1200" b="0" dirty="0">
              <a:solidFill>
                <a:srgbClr val="19191E"/>
              </a:solidFill>
              <a:latin typeface="Aptos"/>
            </a:endParaRPr>
          </a:p>
        </p:txBody>
      </p:sp>
      <p:sp>
        <p:nvSpPr>
          <p:cNvPr id="50" name="TextBox 49">
            <a:hlinkClick r:id="rId9" tooltip="https://arch.su.ac.th/images/publications/ISVS12/20-Dinal.pdf"/>
            <a:extLst>
              <a:ext uri="{FF2B5EF4-FFF2-40B4-BE49-F238E27FC236}">
                <a16:creationId xmlns:a16="http://schemas.microsoft.com/office/drawing/2014/main" id="{72B63C02-5CE2-3FEF-1592-93B4AA5DB286}"/>
              </a:ext>
            </a:extLst>
          </p:cNvPr>
          <p:cNvSpPr txBox="1"/>
          <p:nvPr/>
        </p:nvSpPr>
        <p:spPr>
          <a:xfrm>
            <a:off x="2600141" y="5522921"/>
            <a:ext cx="48920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endParaRPr sz="780" b="0" dirty="0">
              <a:solidFill>
                <a:srgbClr val="5C5E68"/>
              </a:solidFill>
              <a:latin typeface="Aptos"/>
              <a:hlinkClick r:id="rId3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A06208-3742-903F-6E7E-3309719360E8}"/>
              </a:ext>
            </a:extLst>
          </p:cNvPr>
          <p:cNvSpPr txBox="1"/>
          <p:nvPr/>
        </p:nvSpPr>
        <p:spPr>
          <a:xfrm>
            <a:off x="2600141" y="3839488"/>
            <a:ext cx="4128271" cy="3844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endParaRPr sz="780" b="0" dirty="0">
              <a:solidFill>
                <a:srgbClr val="5C5E68"/>
              </a:solidFill>
              <a:latin typeface="Aptos"/>
              <a:hlinkClick r:id="rId3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D64D2A1-AF3A-EAE2-605E-675F6209ACBB}"/>
              </a:ext>
            </a:extLst>
          </p:cNvPr>
          <p:cNvSpPr txBox="1"/>
          <p:nvPr/>
        </p:nvSpPr>
        <p:spPr>
          <a:xfrm>
            <a:off x="2628900" y="5521403"/>
            <a:ext cx="49377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lang="en-IN" sz="1000" b="0" dirty="0">
                <a:solidFill>
                  <a:srgbClr val="5C5E68"/>
                </a:solidFill>
                <a:latin typeface="Aptos"/>
                <a:hlinkClick r:id="rId9"/>
              </a:rPr>
              <a:t>https://arch.su.ac.th/images/publications/ISVS12/20-Dinal.pdf</a:t>
            </a:r>
            <a:endParaRPr sz="1000" b="0" dirty="0">
              <a:solidFill>
                <a:srgbClr val="5C5E68"/>
              </a:solidFill>
              <a:latin typeface="Aptos"/>
              <a:hlinkClick r:id="rId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894BF08-E5E5-5E7D-247A-733B1EC8BD83}"/>
              </a:ext>
            </a:extLst>
          </p:cNvPr>
          <p:cNvSpPr txBox="1"/>
          <p:nvPr/>
        </p:nvSpPr>
        <p:spPr>
          <a:xfrm>
            <a:off x="2606459" y="3832518"/>
            <a:ext cx="4435626" cy="3235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lang="en-IN" sz="1000" b="0" dirty="0">
                <a:solidFill>
                  <a:srgbClr val="5C5E68"/>
                </a:solidFill>
                <a:latin typeface="Aptos"/>
                <a:hlinkClick r:id="rId7"/>
              </a:rPr>
              <a:t>https://www.fhnw.ch/en/engineering-environment/research-services/research/projects/passive-solar-heated-houses-psh-in-ladakh-india</a:t>
            </a:r>
            <a:endParaRPr sz="1000" b="0" dirty="0">
              <a:solidFill>
                <a:srgbClr val="5C5E68"/>
              </a:solidFill>
              <a:latin typeface="Aptos"/>
              <a:hlinkClick r:id="rId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</TotalTime>
  <Words>1181</Words>
  <Application>Microsoft Office PowerPoint</Application>
  <PresentationFormat>Widescreen</PresentationFormat>
  <Paragraphs>184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Garamond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Pragya Garg</dc:creator>
  <cp:keywords/>
  <dc:description>generated using python-pptx</dc:description>
  <cp:lastModifiedBy>Pragya Garg</cp:lastModifiedBy>
  <cp:revision>5</cp:revision>
  <dcterms:created xsi:type="dcterms:W3CDTF">2013-01-27T09:14:16Z</dcterms:created>
  <dcterms:modified xsi:type="dcterms:W3CDTF">2026-09-10T09:27:50Z</dcterms:modified>
  <cp:category/>
</cp:coreProperties>
</file>